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286500" y="-1143000"/>
            <a:ext cx="3714750" cy="3714750"/>
          </a:xfrm>
          <a:prstGeom prst="ellipse">
            <a:avLst/>
          </a:prstGeom>
          <a:solidFill>
            <a:srgbClr val="38BDF8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2743200" y="3429000"/>
            <a:ext cx="2714625" cy="2714625"/>
          </a:xfrm>
          <a:prstGeom prst="ellipse">
            <a:avLst/>
          </a:prstGeom>
          <a:solidFill>
            <a:srgbClr val="A78BF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2"/>
          <p:cNvSpPr/>
          <p:nvPr/>
        </p:nvSpPr>
        <p:spPr>
          <a:xfrm>
            <a:off x="200025" y="203597"/>
            <a:ext cx="157163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203597" y="200025"/>
            <a:ext cx="0" cy="157163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786813" y="203597"/>
            <a:ext cx="157163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940403" y="200025"/>
            <a:ext cx="0" cy="157163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200025" y="4939903"/>
            <a:ext cx="157163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03597" y="4786313"/>
            <a:ext cx="0" cy="157163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940403" y="4786313"/>
            <a:ext cx="0" cy="157163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786813" y="4939903"/>
            <a:ext cx="157163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0"/>
            <a:ext cx="7144" cy="5143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2222" y="403622"/>
            <a:ext cx="2425303" cy="210741"/>
          </a:xfrm>
          <a:prstGeom prst="roundRect">
            <a:avLst>
              <a:gd name="adj" fmla="val 45193140"/>
            </a:avLst>
          </a:prstGeom>
          <a:solidFill>
            <a:srgbClr val="0B1120">
              <a:alpha val="6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735806" y="487561"/>
            <a:ext cx="42863" cy="42863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95250" dist="50800" dir="16200000">
              <a:srgbClr val="38BDF8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864394" y="450056"/>
            <a:ext cx="21992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PLATFORM AUDIT · v1.0 · 2026-09-20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014604" y="450056"/>
            <a:ext cx="2051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DZPHARM / EXECUTIVE BRIEF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628650" y="646509"/>
            <a:ext cx="85153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43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628650" y="946547"/>
            <a:ext cx="8515350" cy="145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92"/>
              </a:lnSpc>
              <a:buNone/>
            </a:pPr>
            <a:r>
              <a:rPr lang="en-US" sz="5400" b="1" spc="-189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DzPharm Platform</a:t>
            </a:r>
            <a:endParaRPr lang="en-US" sz="5400" dirty="0"/>
          </a:p>
          <a:p>
            <a:pPr algn="l" indent="0" marL="0">
              <a:lnSpc>
                <a:spcPts val="5292"/>
              </a:lnSpc>
              <a:buNone/>
            </a:pPr>
            <a:r>
              <a:rPr lang="en-US" sz="5400" b="1" spc="-189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Audit.</a:t>
            </a:r>
            <a:endParaRPr lang="en-US" sz="5400" dirty="0"/>
          </a:p>
        </p:txBody>
      </p:sp>
      <p:sp>
        <p:nvSpPr>
          <p:cNvPr id="22" name="Text 16"/>
          <p:cNvSpPr/>
          <p:nvPr/>
        </p:nvSpPr>
        <p:spPr>
          <a:xfrm>
            <a:off x="628650" y="2519288"/>
            <a:ext cx="6286500" cy="43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complete review of </a:t>
            </a:r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68 features</a:t>
            </a:r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technical design pillars</a:t>
            </a:r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and a </a:t>
            </a:r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13-week transformation plan</a:t>
            </a:r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take DzPharm from impressive demo to production-grade clinical infrastructure.</a:t>
            </a:r>
            <a:endParaRPr lang="en-US" sz="1013" dirty="0"/>
          </a:p>
        </p:txBody>
      </p:sp>
      <p:sp>
        <p:nvSpPr>
          <p:cNvPr id="23" name="Text 17"/>
          <p:cNvSpPr/>
          <p:nvPr/>
        </p:nvSpPr>
        <p:spPr>
          <a:xfrm>
            <a:off x="632222" y="2921347"/>
            <a:ext cx="1080715" cy="542925"/>
          </a:xfrm>
          <a:prstGeom prst="roundRect">
            <a:avLst>
              <a:gd name="adj" fmla="val 21053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750094" y="3024932"/>
            <a:ext cx="844972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68</a:t>
            </a:r>
            <a:endParaRPr lang="en-US" sz="1463" dirty="0"/>
          </a:p>
        </p:txBody>
      </p:sp>
      <p:sp>
        <p:nvSpPr>
          <p:cNvPr id="25" name="Text 19"/>
          <p:cNvSpPr/>
          <p:nvPr/>
        </p:nvSpPr>
        <p:spPr>
          <a:xfrm>
            <a:off x="750094" y="3253532"/>
            <a:ext cx="8449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 AUDITED</a:t>
            </a:r>
            <a:endParaRPr lang="en-US" sz="600" dirty="0"/>
          </a:p>
        </p:txBody>
      </p:sp>
      <p:sp>
        <p:nvSpPr>
          <p:cNvPr id="26" name="Text 20"/>
          <p:cNvSpPr/>
          <p:nvPr/>
        </p:nvSpPr>
        <p:spPr>
          <a:xfrm>
            <a:off x="1805806" y="2921347"/>
            <a:ext cx="1080715" cy="542925"/>
          </a:xfrm>
          <a:prstGeom prst="roundRect">
            <a:avLst>
              <a:gd name="adj" fmla="val 21053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1923678" y="3024932"/>
            <a:ext cx="844972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</a:t>
            </a:r>
            <a:endParaRPr lang="en-US" sz="1463" dirty="0"/>
          </a:p>
        </p:txBody>
      </p:sp>
      <p:sp>
        <p:nvSpPr>
          <p:cNvPr id="28" name="Text 22"/>
          <p:cNvSpPr/>
          <p:nvPr/>
        </p:nvSpPr>
        <p:spPr>
          <a:xfrm>
            <a:off x="1923678" y="3253532"/>
            <a:ext cx="8449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REPORTS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2979390" y="2921347"/>
            <a:ext cx="1080715" cy="542925"/>
          </a:xfrm>
          <a:prstGeom prst="roundRect">
            <a:avLst>
              <a:gd name="adj" fmla="val 21053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3097262" y="3024932"/>
            <a:ext cx="844972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463" dirty="0"/>
          </a:p>
        </p:txBody>
      </p:sp>
      <p:sp>
        <p:nvSpPr>
          <p:cNvPr id="31" name="Text 25"/>
          <p:cNvSpPr/>
          <p:nvPr/>
        </p:nvSpPr>
        <p:spPr>
          <a:xfrm>
            <a:off x="3097262" y="3253532"/>
            <a:ext cx="8449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PILLARS DESIGNED</a:t>
            </a:r>
            <a:endParaRPr lang="en-US" sz="6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403" y="2917775"/>
            <a:ext cx="1087971" cy="550069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4149403" y="2921347"/>
            <a:ext cx="108797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233801" y="2917775"/>
            <a:ext cx="0" cy="550069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149403" y="3464272"/>
            <a:ext cx="108797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156546" y="2917775"/>
            <a:ext cx="0" cy="550069"/>
          </a:xfrm>
          <a:prstGeom prst="line">
            <a:avLst/>
          </a:prstGeom>
          <a:noFill/>
          <a:ln w="14288">
            <a:solidFill>
              <a:srgbClr val="38BDF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277990" y="3024932"/>
            <a:ext cx="83794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1463" dirty="0"/>
          </a:p>
        </p:txBody>
      </p:sp>
      <p:sp>
        <p:nvSpPr>
          <p:cNvPr id="38" name="Text 31"/>
          <p:cNvSpPr/>
          <p:nvPr/>
        </p:nvSpPr>
        <p:spPr>
          <a:xfrm>
            <a:off x="4253577" y="3253532"/>
            <a:ext cx="88676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GRADE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5408823" y="3099941"/>
            <a:ext cx="3220827" cy="24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 deep-dive reports · 169 pages of technical design · 719 total audit pages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7540314" y="3371404"/>
            <a:ext cx="803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01 / 15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8401050" y="3416052"/>
            <a:ext cx="228600" cy="7144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78BF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16123"/>
            <a:ext cx="1768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648295"/>
            <a:ext cx="3431299" cy="699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1"/>
              </a:lnSpc>
              <a:buNone/>
            </a:pPr>
            <a:r>
              <a:rPr lang="en-US" sz="2363" b="1" spc="-47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Impressive Innovation,</a:t>
            </a:r>
            <a:endParaRPr lang="en-US" sz="2363" dirty="0"/>
          </a:p>
          <a:p>
            <a:pPr algn="l" indent="0" marL="0">
              <a:lnSpc>
                <a:spcPts val="2551"/>
              </a:lnSpc>
              <a:buNone/>
            </a:pPr>
            <a:r>
              <a:rPr lang="en-US" sz="2363" b="1" spc="-47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 Gaps.</a:t>
            </a:r>
            <a:endParaRPr lang="en-US" sz="2363" dirty="0"/>
          </a:p>
        </p:txBody>
      </p:sp>
      <p:sp>
        <p:nvSpPr>
          <p:cNvPr id="7" name="Text 3"/>
          <p:cNvSpPr/>
          <p:nvPr/>
        </p:nvSpPr>
        <p:spPr>
          <a:xfrm>
            <a:off x="7036482" y="375047"/>
            <a:ext cx="1646746" cy="185738"/>
          </a:xfrm>
          <a:prstGeom prst="roundRect">
            <a:avLst>
              <a:gd name="adj" fmla="val 512819"/>
            </a:avLst>
          </a:prstGeom>
          <a:solidFill>
            <a:srgbClr val="F87171">
              <a:alpha val="12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268654" y="428625"/>
            <a:ext cx="1325277" cy="120701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P0 FOUNDATIONAL DEFECTS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7125779" y="42505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44" dirty="0"/>
          </a:p>
        </p:txBody>
      </p:sp>
      <p:sp>
        <p:nvSpPr>
          <p:cNvPr id="10" name="Text 6"/>
          <p:cNvSpPr/>
          <p:nvPr/>
        </p:nvSpPr>
        <p:spPr>
          <a:xfrm>
            <a:off x="8305726" y="621506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15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1439242"/>
            <a:ext cx="7858125" cy="39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DzPharm is Algeria's pharmaceutical intelligence platform with 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9,555 medication records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 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trilingual AI Copilot (FR/AR/Darija)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clinical tools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and a world-class 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~400-token design system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But three foundational defects prevent professional deployment.</a:t>
            </a:r>
            <a:endParaRPr lang="en-US" sz="872" dirty="0"/>
          </a:p>
        </p:txBody>
      </p:sp>
      <p:sp>
        <p:nvSpPr>
          <p:cNvPr id="12" name="Text 8"/>
          <p:cNvSpPr/>
          <p:nvPr/>
        </p:nvSpPr>
        <p:spPr>
          <a:xfrm>
            <a:off x="457200" y="1975917"/>
            <a:ext cx="2647876" cy="1171798"/>
          </a:xfrm>
          <a:prstGeom prst="roundRect">
            <a:avLst>
              <a:gd name="adj" fmla="val 11380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457200" y="1979488"/>
            <a:ext cx="2647876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101504" y="1975917"/>
            <a:ext cx="0" cy="1171798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3144143"/>
            <a:ext cx="2647876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7916" y="1975917"/>
            <a:ext cx="0" cy="1171798"/>
          </a:xfrm>
          <a:prstGeom prst="line">
            <a:avLst/>
          </a:prstGeom>
          <a:noFill/>
          <a:ln w="21431">
            <a:solidFill>
              <a:srgbClr val="F8717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9366" y="2143795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F87171">
              <a:alpha val="14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67941" y="217237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406" dirty="0"/>
          </a:p>
        </p:txBody>
      </p:sp>
      <p:sp>
        <p:nvSpPr>
          <p:cNvPr id="19" name="Text 15"/>
          <p:cNvSpPr/>
          <p:nvPr/>
        </p:nvSpPr>
        <p:spPr>
          <a:xfrm>
            <a:off x="2159977" y="2140223"/>
            <a:ext cx="8052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 · ROUTING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35794" y="2468835"/>
            <a:ext cx="2304976" cy="183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URL Routing</a:t>
            </a:r>
            <a:endParaRPr lang="en-US" sz="1069" dirty="0"/>
          </a:p>
        </p:txBody>
      </p:sp>
      <p:sp>
        <p:nvSpPr>
          <p:cNvPr id="21" name="Text 17"/>
          <p:cNvSpPr/>
          <p:nvPr/>
        </p:nvSpPr>
        <p:spPr>
          <a:xfrm>
            <a:off x="635794" y="2709937"/>
            <a:ext cx="2304976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DA4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 routes return 404.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Cannot share, index, or deep-link.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47951" y="1975917"/>
            <a:ext cx="2647987" cy="1171798"/>
          </a:xfrm>
          <a:prstGeom prst="roundRect">
            <a:avLst>
              <a:gd name="adj" fmla="val 11380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3247951" y="1979488"/>
            <a:ext cx="2647987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892366" y="1975917"/>
            <a:ext cx="0" cy="1171798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47951" y="3144143"/>
            <a:ext cx="2647987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258666" y="1975917"/>
            <a:ext cx="0" cy="1171798"/>
          </a:xfrm>
          <a:prstGeom prst="line">
            <a:avLst/>
          </a:prstGeom>
          <a:noFill/>
          <a:ln w="21431">
            <a:solidFill>
              <a:srgbClr val="F8717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30116" y="2143795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F87171">
              <a:alpha val="14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458691" y="217237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29" name="Text 25"/>
          <p:cNvSpPr/>
          <p:nvPr/>
        </p:nvSpPr>
        <p:spPr>
          <a:xfrm>
            <a:off x="5156878" y="2140223"/>
            <a:ext cx="5822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#8 · AUTH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426544" y="2468835"/>
            <a:ext cx="2305087" cy="183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Per-User Auth</a:t>
            </a:r>
            <a:endParaRPr lang="en-US" sz="1069" dirty="0"/>
          </a:p>
        </p:txBody>
      </p:sp>
      <p:sp>
        <p:nvSpPr>
          <p:cNvPr id="31" name="Text 27"/>
          <p:cNvSpPr/>
          <p:nvPr/>
        </p:nvSpPr>
        <p:spPr>
          <a:xfrm>
            <a:off x="3426544" y="2709937"/>
            <a:ext cx="2305087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DA4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shared code,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no audit trail, not regulatory compliant.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038813" y="1975917"/>
            <a:ext cx="2647876" cy="1171798"/>
          </a:xfrm>
          <a:prstGeom prst="roundRect">
            <a:avLst>
              <a:gd name="adj" fmla="val 11380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9"/>
          <p:cNvSpPr/>
          <p:nvPr/>
        </p:nvSpPr>
        <p:spPr>
          <a:xfrm>
            <a:off x="6038813" y="1979488"/>
            <a:ext cx="2647876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683117" y="1975917"/>
            <a:ext cx="0" cy="1171798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038813" y="3144143"/>
            <a:ext cx="2647876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049528" y="1975917"/>
            <a:ext cx="0" cy="1171798"/>
          </a:xfrm>
          <a:prstGeom prst="line">
            <a:avLst/>
          </a:prstGeom>
          <a:noFill/>
          <a:ln w="21431">
            <a:solidFill>
              <a:srgbClr val="F8717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20978" y="2143795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F87171">
              <a:alpha val="14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6249553" y="217237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9" name="Text 35"/>
          <p:cNvSpPr/>
          <p:nvPr/>
        </p:nvSpPr>
        <p:spPr>
          <a:xfrm>
            <a:off x="7878930" y="2140223"/>
            <a:ext cx="6565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 · STATE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6217407" y="2468835"/>
            <a:ext cx="2304976" cy="183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State Persistence</a:t>
            </a:r>
            <a:endParaRPr lang="en-US" sz="1069" dirty="0"/>
          </a:p>
        </p:txBody>
      </p:sp>
      <p:sp>
        <p:nvSpPr>
          <p:cNvPr id="41" name="Text 37"/>
          <p:cNvSpPr/>
          <p:nvPr/>
        </p:nvSpPr>
        <p:spPr>
          <a:xfrm>
            <a:off x="6217407" y="2709937"/>
            <a:ext cx="2304976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 lose data on refresh. Most expensive: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DA4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6-drug interaction list wiped in 1 click.</a:t>
            </a:r>
            <a:endParaRPr lang="en-US" sz="80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0590"/>
            <a:ext cx="8229600" cy="46077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460772" y="3294162"/>
            <a:ext cx="8222456" cy="453628"/>
          </a:xfrm>
          <a:prstGeom prst="roundRect">
            <a:avLst>
              <a:gd name="adj" fmla="val 25197"/>
            </a:avLst>
          </a:prstGeom>
          <a:noFill/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621506" y="344239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547" dirty="0"/>
          </a:p>
        </p:txBody>
      </p:sp>
      <p:sp>
        <p:nvSpPr>
          <p:cNvPr id="45" name="Text 40"/>
          <p:cNvSpPr/>
          <p:nvPr/>
        </p:nvSpPr>
        <p:spPr>
          <a:xfrm>
            <a:off x="864394" y="3443288"/>
            <a:ext cx="496680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13-week transformation fixes all three, unlocks </a:t>
            </a:r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20+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features, and lifts the platform from </a:t>
            </a:r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</a:t>
            </a:r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16" dirty="0"/>
          </a:p>
        </p:txBody>
      </p:sp>
      <p:sp>
        <p:nvSpPr>
          <p:cNvPr id="46" name="Text 41"/>
          <p:cNvSpPr/>
          <p:nvPr/>
        </p:nvSpPr>
        <p:spPr>
          <a:xfrm>
            <a:off x="7024718" y="3397746"/>
            <a:ext cx="8420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9"/>
              </a:lnSpc>
              <a:buNone/>
            </a:pPr>
            <a:r>
              <a:rPr lang="en-US" sz="600" spc="71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TRANSFORMATION</a:t>
            </a:r>
            <a:endParaRPr lang="en-US" sz="600" dirty="0"/>
          </a:p>
        </p:txBody>
      </p:sp>
      <p:sp>
        <p:nvSpPr>
          <p:cNvPr id="47" name="Text 42"/>
          <p:cNvSpPr/>
          <p:nvPr/>
        </p:nvSpPr>
        <p:spPr>
          <a:xfrm>
            <a:off x="7011756" y="3494187"/>
            <a:ext cx="85496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WEEKS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7952445" y="3406676"/>
            <a:ext cx="7144" cy="22860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7920963" y="3397746"/>
            <a:ext cx="6015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9"/>
              </a:lnSpc>
              <a:buNone/>
            </a:pPr>
            <a:r>
              <a:rPr lang="en-US" sz="600" spc="71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LIFT</a:t>
            </a:r>
            <a:endParaRPr lang="en-US" sz="600" dirty="0"/>
          </a:p>
        </p:txBody>
      </p:sp>
      <p:sp>
        <p:nvSpPr>
          <p:cNvPr id="50" name="Text 45"/>
          <p:cNvSpPr/>
          <p:nvPr/>
        </p:nvSpPr>
        <p:spPr>
          <a:xfrm>
            <a:off x="7911703" y="3494187"/>
            <a:ext cx="6107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 → A+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78BF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387548"/>
            <a:ext cx="14275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RESULTS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619720"/>
            <a:ext cx="4699103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spc="-43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68</a:t>
            </a:r>
            <a:pPr algn="l" indent="0" marL="0">
              <a:lnSpc>
                <a:spcPts val="2351"/>
              </a:lnSpc>
              <a:buNone/>
            </a:pPr>
            <a:r>
              <a:rPr lang="en-US" sz="2138" b="1" spc="-43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Features Audited</a:t>
            </a:r>
            <a:endParaRPr lang="en-US" sz="2138" dirty="0"/>
          </a:p>
        </p:txBody>
      </p:sp>
      <p:sp>
        <p:nvSpPr>
          <p:cNvPr id="7" name="Text 3"/>
          <p:cNvSpPr/>
          <p:nvPr/>
        </p:nvSpPr>
        <p:spPr>
          <a:xfrm>
            <a:off x="400050" y="975457"/>
            <a:ext cx="447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Grade distribution across the full review menu — from crown-jewel design system to foundational P0 defects.</a:t>
            </a:r>
            <a:endParaRPr lang="en-US" sz="731" dirty="0"/>
          </a:p>
        </p:txBody>
      </p:sp>
      <p:sp>
        <p:nvSpPr>
          <p:cNvPr id="8" name="Text 4"/>
          <p:cNvSpPr/>
          <p:nvPr/>
        </p:nvSpPr>
        <p:spPr>
          <a:xfrm>
            <a:off x="8362876" y="342900"/>
            <a:ext cx="56113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15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901568" y="495848"/>
            <a:ext cx="865242" cy="212027"/>
          </a:xfrm>
          <a:prstGeom prst="roundRect">
            <a:avLst>
              <a:gd name="adj" fmla="val 449235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877619" y="507206"/>
            <a:ext cx="91314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GRADE · B-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00050" y="1257635"/>
            <a:ext cx="688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DISTRIBUTION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295778" y="1260314"/>
            <a:ext cx="1615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86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58 GRADED · 10 CROSS-CUTTING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400050" y="1436229"/>
            <a:ext cx="1319138" cy="901898"/>
          </a:xfrm>
          <a:prstGeom prst="roundRect">
            <a:avLst>
              <a:gd name="adj" fmla="val 12673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400050" y="1439800"/>
            <a:ext cx="131913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715616" y="1436229"/>
            <a:ext cx="0" cy="901898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00050" y="2334555"/>
            <a:ext cx="131913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0766" y="1436229"/>
            <a:ext cx="0" cy="901898"/>
          </a:xfrm>
          <a:prstGeom prst="line">
            <a:avLst/>
          </a:prstGeom>
          <a:noFill/>
          <a:ln w="21431">
            <a:solidFill>
              <a:srgbClr val="34D39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1494" y="1557672"/>
            <a:ext cx="649891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A/A+</a:t>
            </a:r>
            <a:endParaRPr lang="en-US" sz="1238" dirty="0"/>
          </a:p>
        </p:txBody>
      </p:sp>
      <p:sp>
        <p:nvSpPr>
          <p:cNvPr id="19" name="Text 15"/>
          <p:cNvSpPr/>
          <p:nvPr/>
        </p:nvSpPr>
        <p:spPr>
          <a:xfrm>
            <a:off x="521494" y="1743410"/>
            <a:ext cx="553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53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1497732" y="15576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521494" y="1902358"/>
            <a:ext cx="109053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575" dirty="0"/>
          </a:p>
        </p:txBody>
      </p:sp>
      <p:sp>
        <p:nvSpPr>
          <p:cNvPr id="22" name="Text 18"/>
          <p:cNvSpPr/>
          <p:nvPr/>
        </p:nvSpPr>
        <p:spPr>
          <a:xfrm>
            <a:off x="521494" y="2173821"/>
            <a:ext cx="1090538" cy="42863"/>
          </a:xfrm>
          <a:prstGeom prst="roundRect">
            <a:avLst>
              <a:gd name="adj" fmla="val 2222196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21494" y="2173821"/>
            <a:ext cx="577974" cy="42863"/>
          </a:xfrm>
          <a:prstGeom prst="roundRect">
            <a:avLst>
              <a:gd name="adj" fmla="val 2222196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804913" y="1436229"/>
            <a:ext cx="1319250" cy="901898"/>
          </a:xfrm>
          <a:prstGeom prst="roundRect">
            <a:avLst>
              <a:gd name="adj" fmla="val 12673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1804913" y="1439800"/>
            <a:ext cx="131925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120591" y="1436229"/>
            <a:ext cx="0" cy="901898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804913" y="2334555"/>
            <a:ext cx="131925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815629" y="1436229"/>
            <a:ext cx="0" cy="901898"/>
          </a:xfrm>
          <a:prstGeom prst="line">
            <a:avLst/>
          </a:prstGeom>
          <a:noFill/>
          <a:ln w="21431">
            <a:solidFill>
              <a:srgbClr val="6EE7B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926357" y="1557672"/>
            <a:ext cx="649891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1238" dirty="0"/>
          </a:p>
        </p:txBody>
      </p:sp>
      <p:sp>
        <p:nvSpPr>
          <p:cNvPr id="30" name="Text 26"/>
          <p:cNvSpPr/>
          <p:nvPr/>
        </p:nvSpPr>
        <p:spPr>
          <a:xfrm>
            <a:off x="1926357" y="1743410"/>
            <a:ext cx="553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53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2902707" y="15576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EE7B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1926357" y="1902358"/>
            <a:ext cx="109065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6EE7B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1575" dirty="0"/>
          </a:p>
        </p:txBody>
      </p:sp>
      <p:sp>
        <p:nvSpPr>
          <p:cNvPr id="33" name="Text 29"/>
          <p:cNvSpPr/>
          <p:nvPr/>
        </p:nvSpPr>
        <p:spPr>
          <a:xfrm>
            <a:off x="1926357" y="2173821"/>
            <a:ext cx="1090650" cy="42863"/>
          </a:xfrm>
          <a:prstGeom prst="roundRect">
            <a:avLst>
              <a:gd name="adj" fmla="val 2222196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1926357" y="2173821"/>
            <a:ext cx="872430" cy="42863"/>
          </a:xfrm>
          <a:prstGeom prst="roundRect">
            <a:avLst>
              <a:gd name="adj" fmla="val 2222196"/>
            </a:avLst>
          </a:prstGeom>
          <a:solidFill>
            <a:srgbClr val="6EE7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3209888" y="1436229"/>
            <a:ext cx="1319250" cy="901898"/>
          </a:xfrm>
          <a:prstGeom prst="roundRect">
            <a:avLst>
              <a:gd name="adj" fmla="val 12673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3209888" y="1439800"/>
            <a:ext cx="131925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525566" y="1436229"/>
            <a:ext cx="0" cy="901898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3209888" y="2334555"/>
            <a:ext cx="131925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220603" y="1436229"/>
            <a:ext cx="0" cy="901898"/>
          </a:xfrm>
          <a:prstGeom prst="line">
            <a:avLst/>
          </a:prstGeom>
          <a:noFill/>
          <a:ln w="21431">
            <a:solidFill>
              <a:srgbClr val="38BDF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331332" y="1557672"/>
            <a:ext cx="649891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B+/B</a:t>
            </a:r>
            <a:endParaRPr lang="en-US" sz="1238" dirty="0"/>
          </a:p>
        </p:txBody>
      </p:sp>
      <p:sp>
        <p:nvSpPr>
          <p:cNvPr id="41" name="Text 37"/>
          <p:cNvSpPr/>
          <p:nvPr/>
        </p:nvSpPr>
        <p:spPr>
          <a:xfrm>
            <a:off x="3331332" y="1743410"/>
            <a:ext cx="553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53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4307681" y="15576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3" name="Text 39"/>
          <p:cNvSpPr/>
          <p:nvPr/>
        </p:nvSpPr>
        <p:spPr>
          <a:xfrm>
            <a:off x="3331332" y="1902358"/>
            <a:ext cx="109065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1575" dirty="0"/>
          </a:p>
        </p:txBody>
      </p:sp>
      <p:sp>
        <p:nvSpPr>
          <p:cNvPr id="44" name="Text 40"/>
          <p:cNvSpPr/>
          <p:nvPr/>
        </p:nvSpPr>
        <p:spPr>
          <a:xfrm>
            <a:off x="3331332" y="2173821"/>
            <a:ext cx="1090650" cy="42863"/>
          </a:xfrm>
          <a:prstGeom prst="roundRect">
            <a:avLst>
              <a:gd name="adj" fmla="val 2222196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3331332" y="2173821"/>
            <a:ext cx="1090650" cy="42863"/>
          </a:xfrm>
          <a:prstGeom prst="roundRect">
            <a:avLst>
              <a:gd name="adj" fmla="val 2222196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4614863" y="1436229"/>
            <a:ext cx="1319138" cy="901898"/>
          </a:xfrm>
          <a:prstGeom prst="roundRect">
            <a:avLst>
              <a:gd name="adj" fmla="val 12673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3"/>
          <p:cNvSpPr/>
          <p:nvPr/>
        </p:nvSpPr>
        <p:spPr>
          <a:xfrm>
            <a:off x="4614863" y="1439800"/>
            <a:ext cx="131913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930429" y="1436229"/>
            <a:ext cx="0" cy="901898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614863" y="2334555"/>
            <a:ext cx="131913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625578" y="1436229"/>
            <a:ext cx="0" cy="901898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736306" y="1557672"/>
            <a:ext cx="722729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B-/C+</a:t>
            </a:r>
            <a:endParaRPr lang="en-US" sz="1238" dirty="0"/>
          </a:p>
        </p:txBody>
      </p:sp>
      <p:sp>
        <p:nvSpPr>
          <p:cNvPr id="52" name="Text 48"/>
          <p:cNvSpPr/>
          <p:nvPr/>
        </p:nvSpPr>
        <p:spPr>
          <a:xfrm>
            <a:off x="4729232" y="1743410"/>
            <a:ext cx="6302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53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5712544" y="15576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125" dirty="0"/>
          </a:p>
        </p:txBody>
      </p:sp>
      <p:sp>
        <p:nvSpPr>
          <p:cNvPr id="54" name="Text 50"/>
          <p:cNvSpPr/>
          <p:nvPr/>
        </p:nvSpPr>
        <p:spPr>
          <a:xfrm>
            <a:off x="4736306" y="1902358"/>
            <a:ext cx="109053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1575" dirty="0"/>
          </a:p>
        </p:txBody>
      </p:sp>
      <p:sp>
        <p:nvSpPr>
          <p:cNvPr id="55" name="Text 51"/>
          <p:cNvSpPr/>
          <p:nvPr/>
        </p:nvSpPr>
        <p:spPr>
          <a:xfrm>
            <a:off x="4736306" y="2173821"/>
            <a:ext cx="1090538" cy="42863"/>
          </a:xfrm>
          <a:prstGeom prst="roundRect">
            <a:avLst>
              <a:gd name="adj" fmla="val 2222196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4736306" y="2173821"/>
            <a:ext cx="872430" cy="42863"/>
          </a:xfrm>
          <a:prstGeom prst="roundRect">
            <a:avLst>
              <a:gd name="adj" fmla="val 222219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6019726" y="1436229"/>
            <a:ext cx="1319250" cy="901898"/>
          </a:xfrm>
          <a:prstGeom prst="roundRect">
            <a:avLst>
              <a:gd name="adj" fmla="val 12673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4"/>
          <p:cNvSpPr/>
          <p:nvPr/>
        </p:nvSpPr>
        <p:spPr>
          <a:xfrm>
            <a:off x="6019726" y="1439800"/>
            <a:ext cx="131925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7335403" y="1436229"/>
            <a:ext cx="0" cy="901898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019726" y="2334555"/>
            <a:ext cx="131925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6030441" y="1436229"/>
            <a:ext cx="0" cy="901898"/>
          </a:xfrm>
          <a:prstGeom prst="line">
            <a:avLst/>
          </a:prstGeom>
          <a:noFill/>
          <a:ln w="21431">
            <a:solidFill>
              <a:srgbClr val="FB923C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141169" y="1557672"/>
            <a:ext cx="649891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C/C-</a:t>
            </a:r>
            <a:endParaRPr lang="en-US" sz="1238" dirty="0"/>
          </a:p>
        </p:txBody>
      </p:sp>
      <p:sp>
        <p:nvSpPr>
          <p:cNvPr id="63" name="Text 59"/>
          <p:cNvSpPr/>
          <p:nvPr/>
        </p:nvSpPr>
        <p:spPr>
          <a:xfrm>
            <a:off x="6141169" y="1743410"/>
            <a:ext cx="5539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53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600" dirty="0"/>
          </a:p>
        </p:txBody>
      </p:sp>
      <p:sp>
        <p:nvSpPr>
          <p:cNvPr id="64" name="Text 60"/>
          <p:cNvSpPr/>
          <p:nvPr/>
        </p:nvSpPr>
        <p:spPr>
          <a:xfrm>
            <a:off x="7117519" y="15576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B92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125" dirty="0"/>
          </a:p>
        </p:txBody>
      </p:sp>
      <p:sp>
        <p:nvSpPr>
          <p:cNvPr id="65" name="Text 61"/>
          <p:cNvSpPr/>
          <p:nvPr/>
        </p:nvSpPr>
        <p:spPr>
          <a:xfrm>
            <a:off x="6141169" y="1902358"/>
            <a:ext cx="109065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B92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575" dirty="0"/>
          </a:p>
        </p:txBody>
      </p:sp>
      <p:sp>
        <p:nvSpPr>
          <p:cNvPr id="66" name="Text 62"/>
          <p:cNvSpPr/>
          <p:nvPr/>
        </p:nvSpPr>
        <p:spPr>
          <a:xfrm>
            <a:off x="6141169" y="2173821"/>
            <a:ext cx="1090650" cy="42863"/>
          </a:xfrm>
          <a:prstGeom prst="roundRect">
            <a:avLst>
              <a:gd name="adj" fmla="val 2222196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6141169" y="2173821"/>
            <a:ext cx="577974" cy="42863"/>
          </a:xfrm>
          <a:prstGeom prst="roundRect">
            <a:avLst>
              <a:gd name="adj" fmla="val 2222196"/>
            </a:avLst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700" y="1436229"/>
            <a:ext cx="1319250" cy="901898"/>
          </a:xfrm>
          <a:prstGeom prst="rect">
            <a:avLst/>
          </a:prstGeom>
        </p:spPr>
      </p:pic>
      <p:sp>
        <p:nvSpPr>
          <p:cNvPr id="69" name="Shape 64"/>
          <p:cNvSpPr/>
          <p:nvPr/>
        </p:nvSpPr>
        <p:spPr>
          <a:xfrm>
            <a:off x="7424700" y="1439800"/>
            <a:ext cx="131925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8740378" y="1436229"/>
            <a:ext cx="0" cy="901898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7424700" y="2334555"/>
            <a:ext cx="131925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7435416" y="1436229"/>
            <a:ext cx="0" cy="901898"/>
          </a:xfrm>
          <a:prstGeom prst="line">
            <a:avLst/>
          </a:prstGeom>
          <a:noFill/>
          <a:ln w="21431">
            <a:solidFill>
              <a:srgbClr val="F87171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7546144" y="1557672"/>
            <a:ext cx="768759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D/D-</a:t>
            </a:r>
            <a:endParaRPr lang="en-US" sz="1238" dirty="0"/>
          </a:p>
        </p:txBody>
      </p:sp>
      <p:sp>
        <p:nvSpPr>
          <p:cNvPr id="74" name="Text 69"/>
          <p:cNvSpPr/>
          <p:nvPr/>
        </p:nvSpPr>
        <p:spPr>
          <a:xfrm>
            <a:off x="7546144" y="1743410"/>
            <a:ext cx="6027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53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 DEFECTS</a:t>
            </a:r>
            <a:endParaRPr lang="en-US" sz="600" dirty="0"/>
          </a:p>
        </p:txBody>
      </p:sp>
      <p:sp>
        <p:nvSpPr>
          <p:cNvPr id="75" name="Text 70"/>
          <p:cNvSpPr/>
          <p:nvPr/>
        </p:nvSpPr>
        <p:spPr>
          <a:xfrm>
            <a:off x="8522494" y="15576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1125" dirty="0"/>
          </a:p>
        </p:txBody>
      </p:sp>
      <p:sp>
        <p:nvSpPr>
          <p:cNvPr id="76" name="Text 71"/>
          <p:cNvSpPr/>
          <p:nvPr/>
        </p:nvSpPr>
        <p:spPr>
          <a:xfrm>
            <a:off x="7546144" y="1902358"/>
            <a:ext cx="109065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575" dirty="0"/>
          </a:p>
        </p:txBody>
      </p:sp>
      <p:sp>
        <p:nvSpPr>
          <p:cNvPr id="77" name="Text 72"/>
          <p:cNvSpPr/>
          <p:nvPr/>
        </p:nvSpPr>
        <p:spPr>
          <a:xfrm>
            <a:off x="7546144" y="2173821"/>
            <a:ext cx="1090650" cy="42863"/>
          </a:xfrm>
          <a:prstGeom prst="roundRect">
            <a:avLst>
              <a:gd name="adj" fmla="val 2222196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3"/>
          <p:cNvSpPr/>
          <p:nvPr/>
        </p:nvSpPr>
        <p:spPr>
          <a:xfrm>
            <a:off x="7546144" y="2173821"/>
            <a:ext cx="218108" cy="42863"/>
          </a:xfrm>
          <a:prstGeom prst="roundRect">
            <a:avLst>
              <a:gd name="adj" fmla="val 2222196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4"/>
          <p:cNvSpPr/>
          <p:nvPr/>
        </p:nvSpPr>
        <p:spPr>
          <a:xfrm>
            <a:off x="400050" y="2481002"/>
            <a:ext cx="6002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BREAKDOWN</a:t>
            </a:r>
            <a:endParaRPr lang="en-US" sz="800" dirty="0"/>
          </a:p>
        </p:txBody>
      </p:sp>
      <p:sp>
        <p:nvSpPr>
          <p:cNvPr id="80" name="Text 75"/>
          <p:cNvSpPr/>
          <p:nvPr/>
        </p:nvSpPr>
        <p:spPr>
          <a:xfrm>
            <a:off x="6416650" y="2483681"/>
            <a:ext cx="26686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86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 + P1 = 16 FEATURES · TRANSFORMATION TARGET</a:t>
            </a:r>
            <a:endParaRPr lang="en-US" sz="600" dirty="0"/>
          </a:p>
        </p:txBody>
      </p:sp>
      <p:sp>
        <p:nvSpPr>
          <p:cNvPr id="81" name="Text 76"/>
          <p:cNvSpPr/>
          <p:nvPr/>
        </p:nvSpPr>
        <p:spPr>
          <a:xfrm>
            <a:off x="400050" y="2659596"/>
            <a:ext cx="2021681" cy="582216"/>
          </a:xfrm>
          <a:prstGeom prst="roundRect">
            <a:avLst>
              <a:gd name="adj" fmla="val 19632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Shape 77"/>
          <p:cNvSpPr/>
          <p:nvPr/>
        </p:nvSpPr>
        <p:spPr>
          <a:xfrm>
            <a:off x="400050" y="2663168"/>
            <a:ext cx="202168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2418159" y="2659596"/>
            <a:ext cx="0" cy="58221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400050" y="3238240"/>
            <a:ext cx="202168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410766" y="2659596"/>
            <a:ext cx="0" cy="582216"/>
          </a:xfrm>
          <a:prstGeom prst="line">
            <a:avLst/>
          </a:prstGeom>
          <a:noFill/>
          <a:ln w="21431">
            <a:solidFill>
              <a:srgbClr val="F87171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553641" y="2825688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F87171">
              <a:alpha val="14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2"/>
          <p:cNvSpPr/>
          <p:nvPr/>
        </p:nvSpPr>
        <p:spPr>
          <a:xfrm>
            <a:off x="585430" y="285747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88" name="Text 83"/>
          <p:cNvSpPr/>
          <p:nvPr/>
        </p:nvSpPr>
        <p:spPr>
          <a:xfrm>
            <a:off x="907256" y="2781040"/>
            <a:ext cx="1378744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 CRITICAL</a:t>
            </a:r>
            <a:endParaRPr lang="en-US" sz="800" dirty="0"/>
          </a:p>
        </p:txBody>
      </p:sp>
      <p:sp>
        <p:nvSpPr>
          <p:cNvPr id="89" name="Text 84"/>
          <p:cNvSpPr/>
          <p:nvPr/>
        </p:nvSpPr>
        <p:spPr>
          <a:xfrm>
            <a:off x="907256" y="2906055"/>
            <a:ext cx="13787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688" dirty="0"/>
          </a:p>
        </p:txBody>
      </p:sp>
      <p:sp>
        <p:nvSpPr>
          <p:cNvPr id="90" name="Text 85"/>
          <p:cNvSpPr/>
          <p:nvPr/>
        </p:nvSpPr>
        <p:spPr>
          <a:xfrm>
            <a:off x="2507456" y="2659596"/>
            <a:ext cx="2021681" cy="582216"/>
          </a:xfrm>
          <a:prstGeom prst="roundRect">
            <a:avLst>
              <a:gd name="adj" fmla="val 19632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Shape 86"/>
          <p:cNvSpPr/>
          <p:nvPr/>
        </p:nvSpPr>
        <p:spPr>
          <a:xfrm>
            <a:off x="2507456" y="2663168"/>
            <a:ext cx="202168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4525566" y="2659596"/>
            <a:ext cx="0" cy="58221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2507456" y="3238240"/>
            <a:ext cx="202168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2518172" y="2659596"/>
            <a:ext cx="0" cy="582216"/>
          </a:xfrm>
          <a:prstGeom prst="line">
            <a:avLst/>
          </a:prstGeom>
          <a:noFill/>
          <a:ln w="21431">
            <a:solidFill>
              <a:srgbClr val="FB923C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2661047" y="2825688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FB923C">
              <a:alpha val="14000"/>
            </a:srgbClr>
          </a:solidFill>
          <a:ln w="7144">
            <a:solidFill>
              <a:srgbClr val="FB923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1"/>
          <p:cNvSpPr/>
          <p:nvPr/>
        </p:nvSpPr>
        <p:spPr>
          <a:xfrm>
            <a:off x="2692837" y="285747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B92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97" name="Text 92"/>
          <p:cNvSpPr/>
          <p:nvPr/>
        </p:nvSpPr>
        <p:spPr>
          <a:xfrm>
            <a:off x="3014663" y="2781040"/>
            <a:ext cx="1378744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FB92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P1 HIGH</a:t>
            </a:r>
            <a:endParaRPr lang="en-US" sz="800" dirty="0"/>
          </a:p>
        </p:txBody>
      </p:sp>
      <p:sp>
        <p:nvSpPr>
          <p:cNvPr id="98" name="Text 93"/>
          <p:cNvSpPr/>
          <p:nvPr/>
        </p:nvSpPr>
        <p:spPr>
          <a:xfrm>
            <a:off x="3014663" y="2906055"/>
            <a:ext cx="13787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FB92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1688" dirty="0"/>
          </a:p>
        </p:txBody>
      </p:sp>
      <p:sp>
        <p:nvSpPr>
          <p:cNvPr id="99" name="Text 94"/>
          <p:cNvSpPr/>
          <p:nvPr/>
        </p:nvSpPr>
        <p:spPr>
          <a:xfrm>
            <a:off x="4614863" y="2659596"/>
            <a:ext cx="2021681" cy="582216"/>
          </a:xfrm>
          <a:prstGeom prst="roundRect">
            <a:avLst>
              <a:gd name="adj" fmla="val 19632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Shape 95"/>
          <p:cNvSpPr/>
          <p:nvPr/>
        </p:nvSpPr>
        <p:spPr>
          <a:xfrm>
            <a:off x="4614863" y="2663168"/>
            <a:ext cx="202168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6632972" y="2659596"/>
            <a:ext cx="0" cy="58221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4614863" y="3238240"/>
            <a:ext cx="202168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4625578" y="2659596"/>
            <a:ext cx="0" cy="582216"/>
          </a:xfrm>
          <a:prstGeom prst="line">
            <a:avLst/>
          </a:prstGeom>
          <a:noFill/>
          <a:ln w="21431">
            <a:solidFill>
              <a:srgbClr val="FBBF24"/>
            </a:solidFill>
            <a:prstDash val="solid"/>
          </a:ln>
        </p:spPr>
      </p:sp>
      <p:sp>
        <p:nvSpPr>
          <p:cNvPr id="104" name="Text 99"/>
          <p:cNvSpPr/>
          <p:nvPr/>
        </p:nvSpPr>
        <p:spPr>
          <a:xfrm>
            <a:off x="4768453" y="2825688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0"/>
          <p:cNvSpPr/>
          <p:nvPr/>
        </p:nvSpPr>
        <p:spPr>
          <a:xfrm>
            <a:off x="4800243" y="285747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106" name="Text 101"/>
          <p:cNvSpPr/>
          <p:nvPr/>
        </p:nvSpPr>
        <p:spPr>
          <a:xfrm>
            <a:off x="5122069" y="2781040"/>
            <a:ext cx="1378744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P2 MEDIUM</a:t>
            </a:r>
            <a:endParaRPr lang="en-US" sz="800" dirty="0"/>
          </a:p>
        </p:txBody>
      </p:sp>
      <p:sp>
        <p:nvSpPr>
          <p:cNvPr id="107" name="Text 102"/>
          <p:cNvSpPr/>
          <p:nvPr/>
        </p:nvSpPr>
        <p:spPr>
          <a:xfrm>
            <a:off x="5122069" y="2906055"/>
            <a:ext cx="13787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1688" dirty="0"/>
          </a:p>
        </p:txBody>
      </p:sp>
      <p:sp>
        <p:nvSpPr>
          <p:cNvPr id="108" name="Text 103"/>
          <p:cNvSpPr/>
          <p:nvPr/>
        </p:nvSpPr>
        <p:spPr>
          <a:xfrm>
            <a:off x="6722269" y="2659596"/>
            <a:ext cx="2021681" cy="582216"/>
          </a:xfrm>
          <a:prstGeom prst="roundRect">
            <a:avLst>
              <a:gd name="adj" fmla="val 19632"/>
            </a:avLst>
          </a:prstGeom>
          <a:solidFill>
            <a:srgbClr val="0F172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Shape 104"/>
          <p:cNvSpPr/>
          <p:nvPr/>
        </p:nvSpPr>
        <p:spPr>
          <a:xfrm>
            <a:off x="6722269" y="2663168"/>
            <a:ext cx="202168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8740378" y="2659596"/>
            <a:ext cx="0" cy="58221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6722269" y="3238240"/>
            <a:ext cx="202168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6732984" y="2659596"/>
            <a:ext cx="0" cy="582216"/>
          </a:xfrm>
          <a:prstGeom prst="line">
            <a:avLst/>
          </a:prstGeom>
          <a:noFill/>
          <a:ln w="21431">
            <a:solidFill>
              <a:srgbClr val="34D399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6875859" y="2825688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34D399">
              <a:alpha val="14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Text 109"/>
          <p:cNvSpPr/>
          <p:nvPr/>
        </p:nvSpPr>
        <p:spPr>
          <a:xfrm>
            <a:off x="6907649" y="285747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15" name="Text 110"/>
          <p:cNvSpPr/>
          <p:nvPr/>
        </p:nvSpPr>
        <p:spPr>
          <a:xfrm>
            <a:off x="7229475" y="2781040"/>
            <a:ext cx="1378744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P3 LOW / GOOD</a:t>
            </a:r>
            <a:endParaRPr lang="en-US" sz="800" dirty="0"/>
          </a:p>
        </p:txBody>
      </p:sp>
      <p:sp>
        <p:nvSpPr>
          <p:cNvPr id="116" name="Text 111"/>
          <p:cNvSpPr/>
          <p:nvPr/>
        </p:nvSpPr>
        <p:spPr>
          <a:xfrm>
            <a:off x="7229475" y="2906055"/>
            <a:ext cx="13787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1688" dirty="0"/>
          </a:p>
        </p:txBody>
      </p:sp>
      <p:pic>
        <p:nvPicPr>
          <p:cNvPr id="1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3384686"/>
            <a:ext cx="8343900" cy="510778"/>
          </a:xfrm>
          <a:prstGeom prst="rect">
            <a:avLst/>
          </a:prstGeom>
        </p:spPr>
      </p:pic>
      <p:sp>
        <p:nvSpPr>
          <p:cNvPr id="118" name="Text 112"/>
          <p:cNvSpPr/>
          <p:nvPr/>
        </p:nvSpPr>
        <p:spPr>
          <a:xfrm>
            <a:off x="403622" y="3388258"/>
            <a:ext cx="8336756" cy="503634"/>
          </a:xfrm>
          <a:prstGeom prst="roundRect">
            <a:avLst>
              <a:gd name="adj" fmla="val 22695"/>
            </a:avLst>
          </a:prstGeom>
          <a:noFill/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3"/>
          <p:cNvSpPr/>
          <p:nvPr/>
        </p:nvSpPr>
        <p:spPr>
          <a:xfrm>
            <a:off x="564356" y="356863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06" dirty="0"/>
          </a:p>
        </p:txBody>
      </p:sp>
      <p:sp>
        <p:nvSpPr>
          <p:cNvPr id="120" name="Text 114"/>
          <p:cNvSpPr/>
          <p:nvPr/>
        </p:nvSpPr>
        <p:spPr>
          <a:xfrm>
            <a:off x="792956" y="3491843"/>
            <a:ext cx="7786688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grade: B-.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platform has genuine strengths (design system, clinical tools) undermined by foundational gaps (routing, auth, state).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transformation targets the D and C grades first.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387548"/>
            <a:ext cx="12568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 CRITICAL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619720"/>
            <a:ext cx="4643170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250" b="1" spc="-45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Foundations. </a:t>
            </a:r>
            <a:pPr algn="l" indent="0" marL="0">
              <a:lnSpc>
                <a:spcPts val="2430"/>
              </a:lnSpc>
              <a:buNone/>
            </a:pPr>
            <a:r>
              <a:rPr lang="en-US" sz="2250" b="1" spc="-45" kern="0" dirty="0">
                <a:solidFill>
                  <a:srgbClr val="F87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Fixes.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6456387" y="346472"/>
            <a:ext cx="2283991" cy="200025"/>
          </a:xfrm>
          <a:prstGeom prst="roundRect">
            <a:avLst>
              <a:gd name="adj" fmla="val 47614286"/>
            </a:avLst>
          </a:prstGeom>
          <a:solidFill>
            <a:srgbClr val="F87171">
              <a:alpha val="12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545684" y="40005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914" dirty="0"/>
          </a:p>
        </p:txBody>
      </p:sp>
      <p:sp>
        <p:nvSpPr>
          <p:cNvPr id="9" name="Text 5"/>
          <p:cNvSpPr/>
          <p:nvPr/>
        </p:nvSpPr>
        <p:spPr>
          <a:xfrm>
            <a:off x="6695703" y="392906"/>
            <a:ext cx="206510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01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P0 DEFECTS · 8 WEEKS · 23 UNLOCKS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8362876" y="607219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15</a:t>
            </a:r>
            <a:endParaRPr lang="en-US" sz="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099691"/>
            <a:ext cx="2686050" cy="218766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00050" y="1103263"/>
            <a:ext cx="2686050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082528" y="1099691"/>
            <a:ext cx="0" cy="2187662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00050" y="3283781"/>
            <a:ext cx="2686050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10766" y="1099691"/>
            <a:ext cx="0" cy="2187662"/>
          </a:xfrm>
          <a:prstGeom prst="line">
            <a:avLst/>
          </a:prstGeom>
          <a:noFill/>
          <a:ln w="21431">
            <a:solidFill>
              <a:srgbClr val="F8717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82216" y="1267569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F87171">
              <a:alpha val="14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21863" y="130721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547" dirty="0"/>
          </a:p>
        </p:txBody>
      </p:sp>
      <p:sp>
        <p:nvSpPr>
          <p:cNvPr id="18" name="Text 13"/>
          <p:cNvSpPr/>
          <p:nvPr/>
        </p:nvSpPr>
        <p:spPr>
          <a:xfrm>
            <a:off x="2442591" y="1251781"/>
            <a:ext cx="497634" cy="228029"/>
          </a:xfrm>
          <a:prstGeom prst="roundRect">
            <a:avLst>
              <a:gd name="adj" fmla="val 417710"/>
            </a:avLst>
          </a:prstGeom>
          <a:solidFill>
            <a:srgbClr val="F87171">
              <a:alpha val="12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2553891" y="1306860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644080" y="1306860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718238" y="1306860"/>
            <a:ext cx="12672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619" dirty="0"/>
          </a:p>
        </p:txBody>
      </p:sp>
      <p:sp>
        <p:nvSpPr>
          <p:cNvPr id="22" name="Text 17"/>
          <p:cNvSpPr/>
          <p:nvPr/>
        </p:nvSpPr>
        <p:spPr>
          <a:xfrm>
            <a:off x="578644" y="1664047"/>
            <a:ext cx="23431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 · ROUTING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578644" y="1824782"/>
            <a:ext cx="234315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Routing Architecture</a:t>
            </a:r>
            <a:endParaRPr lang="en-US" sz="1238" dirty="0"/>
          </a:p>
        </p:txBody>
      </p:sp>
      <p:sp>
        <p:nvSpPr>
          <p:cNvPr id="24" name="Text 19"/>
          <p:cNvSpPr/>
          <p:nvPr/>
        </p:nvSpPr>
        <p:spPr>
          <a:xfrm>
            <a:off x="555784" y="2101964"/>
            <a:ext cx="662650" cy="212027"/>
          </a:xfrm>
          <a:prstGeom prst="roundRect">
            <a:avLst>
              <a:gd name="adj" fmla="val 35939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785813" y="2156185"/>
            <a:ext cx="2135981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57225" y="216154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14" dirty="0"/>
          </a:p>
        </p:txBody>
      </p:sp>
      <p:sp>
        <p:nvSpPr>
          <p:cNvPr id="27" name="Text 22"/>
          <p:cNvSpPr/>
          <p:nvPr/>
        </p:nvSpPr>
        <p:spPr>
          <a:xfrm>
            <a:off x="578644" y="2402644"/>
            <a:ext cx="2343150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9,555 medication pages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get real URLs.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FDA4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380× SEO traffic.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Deep-linking, sharing, back-button all restored.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578644" y="2803364"/>
            <a:ext cx="234315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29" name="Text 24"/>
          <p:cNvSpPr/>
          <p:nvPr/>
        </p:nvSpPr>
        <p:spPr>
          <a:xfrm>
            <a:off x="578644" y="2892661"/>
            <a:ext cx="13122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UNLOCKS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578644" y="2994459"/>
            <a:ext cx="110896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 features</a:t>
            </a:r>
            <a:endParaRPr lang="en-US" sz="1238" dirty="0"/>
          </a:p>
        </p:txBody>
      </p:sp>
      <p:sp>
        <p:nvSpPr>
          <p:cNvPr id="31" name="Text 26"/>
          <p:cNvSpPr/>
          <p:nvPr/>
        </p:nvSpPr>
        <p:spPr>
          <a:xfrm>
            <a:off x="2721769" y="292212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975" y="1099691"/>
            <a:ext cx="2686050" cy="218766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3228975" y="1103263"/>
            <a:ext cx="2686050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911453" y="1099691"/>
            <a:ext cx="0" cy="2187662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228975" y="3283781"/>
            <a:ext cx="2686050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239691" y="1099691"/>
            <a:ext cx="0" cy="2187662"/>
          </a:xfrm>
          <a:prstGeom prst="line">
            <a:avLst/>
          </a:prstGeom>
          <a:noFill/>
          <a:ln w="21431">
            <a:solidFill>
              <a:srgbClr val="F87171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411141" y="1267569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F87171">
              <a:alpha val="14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3450788" y="130721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39" name="Text 33"/>
          <p:cNvSpPr/>
          <p:nvPr/>
        </p:nvSpPr>
        <p:spPr>
          <a:xfrm>
            <a:off x="5271516" y="1251781"/>
            <a:ext cx="497634" cy="228029"/>
          </a:xfrm>
          <a:prstGeom prst="roundRect">
            <a:avLst>
              <a:gd name="adj" fmla="val 417710"/>
            </a:avLst>
          </a:prstGeom>
          <a:solidFill>
            <a:srgbClr val="F87171">
              <a:alpha val="12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5382816" y="1306860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5473005" y="1306860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5547163" y="1306860"/>
            <a:ext cx="12672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619" dirty="0"/>
          </a:p>
        </p:txBody>
      </p:sp>
      <p:sp>
        <p:nvSpPr>
          <p:cNvPr id="43" name="Text 37"/>
          <p:cNvSpPr/>
          <p:nvPr/>
        </p:nvSpPr>
        <p:spPr>
          <a:xfrm>
            <a:off x="3407569" y="1664047"/>
            <a:ext cx="23431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#8 · AUTHENTICATION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3407569" y="1824782"/>
            <a:ext cx="234315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Authentication Model</a:t>
            </a:r>
            <a:endParaRPr lang="en-US" sz="1238" dirty="0"/>
          </a:p>
        </p:txBody>
      </p:sp>
      <p:sp>
        <p:nvSpPr>
          <p:cNvPr id="45" name="Text 39"/>
          <p:cNvSpPr/>
          <p:nvPr/>
        </p:nvSpPr>
        <p:spPr>
          <a:xfrm>
            <a:off x="3384709" y="2101964"/>
            <a:ext cx="662650" cy="212027"/>
          </a:xfrm>
          <a:prstGeom prst="roundRect">
            <a:avLst>
              <a:gd name="adj" fmla="val 35939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3614738" y="2156185"/>
            <a:ext cx="2135981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weeks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3486150" y="216154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14" dirty="0"/>
          </a:p>
        </p:txBody>
      </p:sp>
      <p:sp>
        <p:nvSpPr>
          <p:cNvPr id="48" name="Text 42"/>
          <p:cNvSpPr/>
          <p:nvPr/>
        </p:nvSpPr>
        <p:spPr>
          <a:xfrm>
            <a:off x="3407569" y="2402644"/>
            <a:ext cx="2343150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Per-user accounts, MFA, audit trail.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Devtools bypass closed.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FDA4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Regulatory compliant (Law 85-05).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3407569" y="2803364"/>
            <a:ext cx="234315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50" name="Text 44"/>
          <p:cNvSpPr/>
          <p:nvPr/>
        </p:nvSpPr>
        <p:spPr>
          <a:xfrm>
            <a:off x="3407569" y="2892661"/>
            <a:ext cx="13122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UNLOCKS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>
            <a:off x="3407569" y="2994459"/>
            <a:ext cx="110896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features</a:t>
            </a:r>
            <a:endParaRPr lang="en-US" sz="1238" dirty="0"/>
          </a:p>
        </p:txBody>
      </p:sp>
      <p:sp>
        <p:nvSpPr>
          <p:cNvPr id="52" name="Text 46"/>
          <p:cNvSpPr/>
          <p:nvPr/>
        </p:nvSpPr>
        <p:spPr>
          <a:xfrm>
            <a:off x="5550694" y="292212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0" y="1099691"/>
            <a:ext cx="2686050" cy="2187662"/>
          </a:xfrm>
          <a:prstGeom prst="rect">
            <a:avLst/>
          </a:prstGeom>
        </p:spPr>
      </p:pic>
      <p:sp>
        <p:nvSpPr>
          <p:cNvPr id="54" name="Shape 47"/>
          <p:cNvSpPr/>
          <p:nvPr/>
        </p:nvSpPr>
        <p:spPr>
          <a:xfrm>
            <a:off x="6057900" y="1103263"/>
            <a:ext cx="2686050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8740378" y="1099691"/>
            <a:ext cx="0" cy="2187662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6057900" y="3283781"/>
            <a:ext cx="2686050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6068616" y="1099691"/>
            <a:ext cx="0" cy="2187662"/>
          </a:xfrm>
          <a:prstGeom prst="line">
            <a:avLst/>
          </a:prstGeom>
          <a:noFill/>
          <a:ln w="21431">
            <a:solidFill>
              <a:srgbClr val="F87171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6240066" y="1267569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F87171">
              <a:alpha val="14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6279713" y="130721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1547" dirty="0"/>
          </a:p>
        </p:txBody>
      </p:sp>
      <p:sp>
        <p:nvSpPr>
          <p:cNvPr id="60" name="Text 53"/>
          <p:cNvSpPr/>
          <p:nvPr/>
        </p:nvSpPr>
        <p:spPr>
          <a:xfrm>
            <a:off x="8051221" y="1251781"/>
            <a:ext cx="548747" cy="228029"/>
          </a:xfrm>
          <a:prstGeom prst="roundRect">
            <a:avLst>
              <a:gd name="adj" fmla="val 417710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8164413" y="1306860"/>
            <a:ext cx="1514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8301930" y="1306860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8376088" y="1306860"/>
            <a:ext cx="12672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619" dirty="0"/>
          </a:p>
        </p:txBody>
      </p:sp>
      <p:sp>
        <p:nvSpPr>
          <p:cNvPr id="64" name="Text 57"/>
          <p:cNvSpPr/>
          <p:nvPr/>
        </p:nvSpPr>
        <p:spPr>
          <a:xfrm>
            <a:off x="6236494" y="1664047"/>
            <a:ext cx="23431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 · STATE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6236494" y="1824782"/>
            <a:ext cx="234315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State Management</a:t>
            </a:r>
            <a:endParaRPr lang="en-US" sz="1238" dirty="0"/>
          </a:p>
        </p:txBody>
      </p:sp>
      <p:sp>
        <p:nvSpPr>
          <p:cNvPr id="66" name="Text 59"/>
          <p:cNvSpPr/>
          <p:nvPr/>
        </p:nvSpPr>
        <p:spPr>
          <a:xfrm>
            <a:off x="6213634" y="2101964"/>
            <a:ext cx="662650" cy="212027"/>
          </a:xfrm>
          <a:prstGeom prst="roundRect">
            <a:avLst>
              <a:gd name="adj" fmla="val 35939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0"/>
          <p:cNvSpPr/>
          <p:nvPr/>
        </p:nvSpPr>
        <p:spPr>
          <a:xfrm>
            <a:off x="6443663" y="2156185"/>
            <a:ext cx="2135981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6315075" y="216154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14" dirty="0"/>
          </a:p>
        </p:txBody>
      </p:sp>
      <p:sp>
        <p:nvSpPr>
          <p:cNvPr id="69" name="Text 62"/>
          <p:cNvSpPr/>
          <p:nvPr/>
        </p:nvSpPr>
        <p:spPr>
          <a:xfrm>
            <a:off x="6236494" y="2402644"/>
            <a:ext cx="2343150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Drug list in URL, Copilot history persists, cross-tab sync.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FCD3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Same-day three: 1 day, ~150 lines of code.</a:t>
            </a:r>
            <a:endParaRPr lang="en-US" sz="800" dirty="0"/>
          </a:p>
        </p:txBody>
      </p:sp>
      <p:sp>
        <p:nvSpPr>
          <p:cNvPr id="70" name="Shape 63"/>
          <p:cNvSpPr/>
          <p:nvPr/>
        </p:nvSpPr>
        <p:spPr>
          <a:xfrm>
            <a:off x="6236494" y="2803364"/>
            <a:ext cx="234315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71" name="Text 64"/>
          <p:cNvSpPr/>
          <p:nvPr/>
        </p:nvSpPr>
        <p:spPr>
          <a:xfrm>
            <a:off x="6236494" y="2892661"/>
            <a:ext cx="13122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UNLOCKS</a:t>
            </a:r>
            <a:endParaRPr lang="en-US" sz="800" dirty="0"/>
          </a:p>
        </p:txBody>
      </p:sp>
      <p:sp>
        <p:nvSpPr>
          <p:cNvPr id="72" name="Text 65"/>
          <p:cNvSpPr/>
          <p:nvPr/>
        </p:nvSpPr>
        <p:spPr>
          <a:xfrm>
            <a:off x="6236494" y="2994459"/>
            <a:ext cx="110896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features</a:t>
            </a:r>
            <a:endParaRPr lang="en-US" sz="1238" dirty="0"/>
          </a:p>
        </p:txBody>
      </p:sp>
      <p:sp>
        <p:nvSpPr>
          <p:cNvPr id="73" name="Text 66"/>
          <p:cNvSpPr/>
          <p:nvPr/>
        </p:nvSpPr>
        <p:spPr>
          <a:xfrm>
            <a:off x="8379619" y="292212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pic>
        <p:nvPicPr>
          <p:cNvPr id="7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3430228"/>
            <a:ext cx="8343900" cy="407194"/>
          </a:xfrm>
          <a:prstGeom prst="rect">
            <a:avLst/>
          </a:prstGeom>
        </p:spPr>
      </p:pic>
      <p:sp>
        <p:nvSpPr>
          <p:cNvPr id="75" name="Text 67"/>
          <p:cNvSpPr/>
          <p:nvPr/>
        </p:nvSpPr>
        <p:spPr>
          <a:xfrm>
            <a:off x="403622" y="3433800"/>
            <a:ext cx="8336756" cy="400050"/>
          </a:xfrm>
          <a:prstGeom prst="roundRect">
            <a:avLst>
              <a:gd name="adj" fmla="val 28571"/>
            </a:avLst>
          </a:prstGeom>
          <a:noFill/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68"/>
          <p:cNvSpPr/>
          <p:nvPr/>
        </p:nvSpPr>
        <p:spPr>
          <a:xfrm>
            <a:off x="564356" y="355524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77" name="Text 69"/>
          <p:cNvSpPr/>
          <p:nvPr/>
        </p:nvSpPr>
        <p:spPr>
          <a:xfrm>
            <a:off x="797521" y="3587390"/>
            <a:ext cx="60023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Together:</a:t>
            </a:r>
            <a:endParaRPr lang="en-US" sz="800" dirty="0"/>
          </a:p>
        </p:txBody>
      </p:sp>
      <p:sp>
        <p:nvSpPr>
          <p:cNvPr id="78" name="Text 70"/>
          <p:cNvSpPr/>
          <p:nvPr/>
        </p:nvSpPr>
        <p:spPr>
          <a:xfrm>
            <a:off x="1345927" y="3558815"/>
            <a:ext cx="693658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weeks</a:t>
            </a:r>
            <a:endParaRPr lang="en-US" sz="1013" dirty="0"/>
          </a:p>
        </p:txBody>
      </p:sp>
      <p:sp>
        <p:nvSpPr>
          <p:cNvPr id="79" name="Text 71"/>
          <p:cNvSpPr/>
          <p:nvPr/>
        </p:nvSpPr>
        <p:spPr>
          <a:xfrm>
            <a:off x="1944216" y="3587390"/>
            <a:ext cx="9144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80" name="Text 72"/>
          <p:cNvSpPr/>
          <p:nvPr/>
        </p:nvSpPr>
        <p:spPr>
          <a:xfrm>
            <a:off x="2033960" y="3558815"/>
            <a:ext cx="998156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P0 closed</a:t>
            </a:r>
            <a:endParaRPr lang="en-US" sz="1013" dirty="0"/>
          </a:p>
        </p:txBody>
      </p:sp>
      <p:sp>
        <p:nvSpPr>
          <p:cNvPr id="81" name="Text 73"/>
          <p:cNvSpPr/>
          <p:nvPr/>
        </p:nvSpPr>
        <p:spPr>
          <a:xfrm>
            <a:off x="2941997" y="3587390"/>
            <a:ext cx="9144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82" name="Text 74"/>
          <p:cNvSpPr/>
          <p:nvPr/>
        </p:nvSpPr>
        <p:spPr>
          <a:xfrm>
            <a:off x="3031741" y="3558815"/>
            <a:ext cx="1625828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features unlocked</a:t>
            </a:r>
            <a:endParaRPr lang="en-US" sz="1013" dirty="0"/>
          </a:p>
        </p:txBody>
      </p:sp>
      <p:sp>
        <p:nvSpPr>
          <p:cNvPr id="83" name="Text 75"/>
          <p:cNvSpPr/>
          <p:nvPr/>
        </p:nvSpPr>
        <p:spPr>
          <a:xfrm>
            <a:off x="7164177" y="3580247"/>
            <a:ext cx="14154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FOUNDATION TRACK · 8 WEEKS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78BF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358973"/>
            <a:ext cx="19397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#1 · ROUTING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591145"/>
            <a:ext cx="3912855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40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Routing Architecture </a:t>
            </a:r>
            <a:pPr algn="l" indent="0" marL="0">
              <a:lnSpc>
                <a:spcPts val="2228"/>
              </a:lnSpc>
              <a:buNone/>
            </a:pPr>
            <a:r>
              <a:rPr lang="en-US" sz="2025" b="1" spc="-40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2228"/>
              </a:lnSpc>
              <a:buNone/>
            </a:pPr>
            <a:r>
              <a:rPr lang="en-US" sz="2025" b="1" spc="-40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228"/>
              </a:lnSpc>
              <a:buNone/>
            </a:pPr>
            <a:r>
              <a:rPr lang="en-US" sz="2025" b="1" spc="-40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ts val="2228"/>
              </a:lnSpc>
              <a:buNone/>
            </a:pPr>
            <a:r>
              <a:rPr lang="en-US" sz="2025" b="1" spc="-40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2228"/>
              </a:lnSpc>
              <a:buNone/>
            </a:pPr>
            <a:r>
              <a:rPr lang="en-US" sz="2025" b="1" spc="-4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2228"/>
              </a:lnSpc>
              <a:buNone/>
            </a:pPr>
            <a:r>
              <a:rPr lang="en-US" sz="2025" b="1" spc="-40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2228"/>
              </a:lnSpc>
              <a:buNone/>
            </a:pPr>
            <a:r>
              <a:rPr lang="en-US" sz="2025" b="1" spc="-4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2025" dirty="0"/>
          </a:p>
        </p:txBody>
      </p:sp>
      <p:sp>
        <p:nvSpPr>
          <p:cNvPr id="7" name="Text 3"/>
          <p:cNvSpPr/>
          <p:nvPr/>
        </p:nvSpPr>
        <p:spPr>
          <a:xfrm>
            <a:off x="8279606" y="302109"/>
            <a:ext cx="482203" cy="228029"/>
          </a:xfrm>
          <a:prstGeom prst="roundRect">
            <a:avLst>
              <a:gd name="adj" fmla="val 417710"/>
            </a:avLst>
          </a:prstGeom>
          <a:solidFill>
            <a:srgbClr val="F87171">
              <a:alpha val="12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8383191" y="357188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473380" y="357188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547538" y="357188"/>
            <a:ext cx="12672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619" dirty="0"/>
          </a:p>
        </p:txBody>
      </p:sp>
      <p:sp>
        <p:nvSpPr>
          <p:cNvPr id="11" name="Text 7"/>
          <p:cNvSpPr/>
          <p:nvPr/>
        </p:nvSpPr>
        <p:spPr>
          <a:xfrm>
            <a:off x="8362876" y="575072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15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132088" y="1038299"/>
            <a:ext cx="551631" cy="128588"/>
          </a:xfrm>
          <a:prstGeom prst="roundRect">
            <a:avLst>
              <a:gd name="adj" fmla="val 29630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906180" y="1038299"/>
            <a:ext cx="731676" cy="128588"/>
          </a:xfrm>
          <a:prstGeom prst="roundRect">
            <a:avLst>
              <a:gd name="adj" fmla="val 29630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0050" y="1016868"/>
            <a:ext cx="5006318" cy="35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DzPharm has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but doesn't use its router. Navigation is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38BDF8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setState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not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38BDF8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router.push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DA4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All 22 tested routes return 404.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9,555 medication pages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are invisible to Google.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00050" y="1486793"/>
            <a:ext cx="5750812" cy="13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MIGRATION · 4 PHASES · 9 DAYS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03622" y="1654671"/>
            <a:ext cx="4999174" cy="460772"/>
          </a:xfrm>
          <a:prstGeom prst="roundRect">
            <a:avLst>
              <a:gd name="adj" fmla="val 20672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21494" y="1758255"/>
            <a:ext cx="675059" cy="129679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21494" y="1876127"/>
            <a:ext cx="70969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11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960401" y="1743968"/>
            <a:ext cx="606214" cy="136066"/>
          </a:xfrm>
          <a:prstGeom prst="roundRect">
            <a:avLst>
              <a:gd name="adj" fmla="val 2800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595190" y="1743968"/>
            <a:ext cx="606214" cy="136066"/>
          </a:xfrm>
          <a:prstGeom prst="roundRect">
            <a:avLst>
              <a:gd name="adj" fmla="val 2800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229980" y="1743968"/>
            <a:ext cx="700757" cy="136066"/>
          </a:xfrm>
          <a:prstGeom prst="roundRect">
            <a:avLst>
              <a:gd name="adj" fmla="val 2800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959312" y="1743968"/>
            <a:ext cx="511559" cy="136066"/>
          </a:xfrm>
          <a:prstGeom prst="roundRect">
            <a:avLst>
              <a:gd name="adj" fmla="val 2800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1107281" y="1743968"/>
            <a:ext cx="419193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primary routes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8BDF8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/repertoire/prix-chifa/interactions/copilote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03622" y="2194024"/>
            <a:ext cx="4999174" cy="460772"/>
          </a:xfrm>
          <a:prstGeom prst="roundRect">
            <a:avLst>
              <a:gd name="adj" fmla="val 20672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21494" y="2297609"/>
            <a:ext cx="675059" cy="129679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21494" y="2415480"/>
            <a:ext cx="70969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11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DAYS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263118" y="2283321"/>
            <a:ext cx="464232" cy="136066"/>
          </a:xfrm>
          <a:prstGeom prst="roundRect">
            <a:avLst>
              <a:gd name="adj" fmla="val 2800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1107281" y="2283321"/>
            <a:ext cx="430165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clinical tool routes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under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8BDF8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/outils/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3622" y="2733377"/>
            <a:ext cx="4999174" cy="460772"/>
          </a:xfrm>
          <a:prstGeom prst="roundRect">
            <a:avLst>
              <a:gd name="adj" fmla="val 20672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21494" y="2836962"/>
            <a:ext cx="675059" cy="129679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3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21494" y="2954834"/>
            <a:ext cx="70969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11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318370" y="2836962"/>
            <a:ext cx="232283" cy="114300"/>
          </a:xfrm>
          <a:prstGeom prst="roundRect">
            <a:avLst>
              <a:gd name="adj" fmla="val 33333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1107281" y="2822674"/>
            <a:ext cx="4191930" cy="17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9,555 medication pages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8BDF8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intercepting routes for modals.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3622" y="3272730"/>
            <a:ext cx="4999174" cy="460772"/>
          </a:xfrm>
          <a:prstGeom prst="roundRect">
            <a:avLst>
              <a:gd name="adj" fmla="val 20672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521494" y="3376315"/>
            <a:ext cx="675059" cy="129679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4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21494" y="3494187"/>
            <a:ext cx="8001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11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DAY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1107281" y="3362027"/>
            <a:ext cx="4301658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pages, dynamic sitemap, custom 404.</a:t>
            </a:r>
            <a:endParaRPr lang="en-US" sz="8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18" y="1016868"/>
            <a:ext cx="3166132" cy="85780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581390" y="1020440"/>
            <a:ext cx="3158989" cy="850664"/>
          </a:xfrm>
          <a:prstGeom prst="roundRect">
            <a:avLst>
              <a:gd name="adj" fmla="val 1567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8522494" y="112402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41" name="Text 36"/>
          <p:cNvSpPr/>
          <p:nvPr/>
        </p:nvSpPr>
        <p:spPr>
          <a:xfrm>
            <a:off x="5727836" y="1152599"/>
            <a:ext cx="2866095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9,570</a:t>
            </a:r>
            <a:endParaRPr lang="en-US" sz="2138" dirty="0"/>
          </a:p>
        </p:txBody>
      </p:sp>
      <p:sp>
        <p:nvSpPr>
          <p:cNvPr id="42" name="Text 37"/>
          <p:cNvSpPr/>
          <p:nvPr/>
        </p:nvSpPr>
        <p:spPr>
          <a:xfrm>
            <a:off x="5727836" y="1466924"/>
            <a:ext cx="2975823" cy="134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spc="5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ROUTES AFTER MIGRATION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5727836" y="1628998"/>
            <a:ext cx="297582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routes to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9,570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in 9 days.</a:t>
            </a:r>
            <a:endParaRPr lang="en-US" sz="8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18" y="1960401"/>
            <a:ext cx="3166132" cy="85780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581390" y="1963973"/>
            <a:ext cx="3158989" cy="850664"/>
          </a:xfrm>
          <a:prstGeom prst="roundRect">
            <a:avLst>
              <a:gd name="adj" fmla="val 1567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8522494" y="206755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84" dirty="0"/>
          </a:p>
        </p:txBody>
      </p:sp>
      <p:sp>
        <p:nvSpPr>
          <p:cNvPr id="47" name="Text 41"/>
          <p:cNvSpPr/>
          <p:nvPr/>
        </p:nvSpPr>
        <p:spPr>
          <a:xfrm>
            <a:off x="5727836" y="2096133"/>
            <a:ext cx="2866095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380×</a:t>
            </a:r>
            <a:endParaRPr lang="en-US" sz="2138" dirty="0"/>
          </a:p>
        </p:txBody>
      </p:sp>
      <p:sp>
        <p:nvSpPr>
          <p:cNvPr id="48" name="Text 42"/>
          <p:cNvSpPr/>
          <p:nvPr/>
        </p:nvSpPr>
        <p:spPr>
          <a:xfrm>
            <a:off x="5727836" y="2410458"/>
            <a:ext cx="2866095" cy="134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spc="5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SEO TRAFFIC INCREASE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5727836" y="2572531"/>
            <a:ext cx="297582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~500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~190K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monthly visits.</a:t>
            </a:r>
            <a:endParaRPr lang="en-US" sz="80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18" y="2903934"/>
            <a:ext cx="3166132" cy="85780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581390" y="2907506"/>
            <a:ext cx="3158989" cy="850664"/>
          </a:xfrm>
          <a:prstGeom prst="roundRect">
            <a:avLst>
              <a:gd name="adj" fmla="val 1567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5"/>
          <p:cNvSpPr/>
          <p:nvPr/>
        </p:nvSpPr>
        <p:spPr>
          <a:xfrm>
            <a:off x="8522494" y="30110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984" dirty="0"/>
          </a:p>
        </p:txBody>
      </p:sp>
      <p:sp>
        <p:nvSpPr>
          <p:cNvPr id="53" name="Text 46"/>
          <p:cNvSpPr/>
          <p:nvPr/>
        </p:nvSpPr>
        <p:spPr>
          <a:xfrm>
            <a:off x="5727836" y="3039666"/>
            <a:ext cx="2866095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~190K</a:t>
            </a:r>
            <a:endParaRPr lang="en-US" sz="2138" dirty="0"/>
          </a:p>
        </p:txBody>
      </p:sp>
      <p:sp>
        <p:nvSpPr>
          <p:cNvPr id="54" name="Text 47"/>
          <p:cNvSpPr/>
          <p:nvPr/>
        </p:nvSpPr>
        <p:spPr>
          <a:xfrm>
            <a:off x="5727836" y="3353991"/>
            <a:ext cx="2975823" cy="134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spc="5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MONTHLY ORGANIC VISITS (PROJECTED)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5727836" y="3516064"/>
            <a:ext cx="297582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Indexable, shareable, deep-linkable.</a:t>
            </a:r>
            <a:endParaRPr lang="en-US" sz="800" dirty="0"/>
          </a:p>
        </p:txBody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3876042"/>
            <a:ext cx="8343900" cy="337542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403622" y="3879614"/>
            <a:ext cx="8336756" cy="330398"/>
          </a:xfrm>
          <a:prstGeom prst="roundRect">
            <a:avLst>
              <a:gd name="adj" fmla="val 34595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550069" y="397337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406" dirty="0"/>
          </a:p>
        </p:txBody>
      </p:sp>
      <p:sp>
        <p:nvSpPr>
          <p:cNvPr id="59" name="Text 51"/>
          <p:cNvSpPr/>
          <p:nvPr/>
        </p:nvSpPr>
        <p:spPr>
          <a:xfrm>
            <a:off x="778669" y="3968911"/>
            <a:ext cx="781526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SEO unlock alone =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~$950/month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equivalent ad spend,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free.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78BF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26332" y="328613"/>
            <a:ext cx="200137" cy="121444"/>
          </a:xfrm>
          <a:prstGeom prst="roundRect">
            <a:avLst>
              <a:gd name="adj" fmla="val 31372"/>
            </a:avLst>
          </a:prstGeom>
          <a:solidFill>
            <a:srgbClr val="F8717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28650" y="337542"/>
            <a:ext cx="1366132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#8 · AUTH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1715359" y="321326"/>
            <a:ext cx="222082" cy="136017"/>
          </a:xfrm>
          <a:prstGeom prst="roundRect">
            <a:avLst>
              <a:gd name="adj" fmla="val 28011"/>
            </a:avLst>
          </a:prstGeom>
          <a:solidFill>
            <a:srgbClr val="F8717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726332" y="328613"/>
            <a:ext cx="20013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111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00050" y="535781"/>
            <a:ext cx="3764287" cy="288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Authentication Model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1913" dirty="0"/>
          </a:p>
        </p:txBody>
      </p:sp>
      <p:sp>
        <p:nvSpPr>
          <p:cNvPr id="10" name="Text 6"/>
          <p:cNvSpPr/>
          <p:nvPr/>
        </p:nvSpPr>
        <p:spPr>
          <a:xfrm>
            <a:off x="8279606" y="273534"/>
            <a:ext cx="482203" cy="228029"/>
          </a:xfrm>
          <a:prstGeom prst="roundRect">
            <a:avLst>
              <a:gd name="adj" fmla="val 417710"/>
            </a:avLst>
          </a:prstGeom>
          <a:solidFill>
            <a:srgbClr val="F87171">
              <a:alpha val="12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383191" y="328613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473380" y="328613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547538" y="328613"/>
            <a:ext cx="12672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619" dirty="0"/>
          </a:p>
        </p:txBody>
      </p:sp>
      <p:sp>
        <p:nvSpPr>
          <p:cNvPr id="14" name="Text 10"/>
          <p:cNvSpPr/>
          <p:nvPr/>
        </p:nvSpPr>
        <p:spPr>
          <a:xfrm>
            <a:off x="8362876" y="546497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15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00050" y="917191"/>
            <a:ext cx="5006318" cy="35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Single shared code (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FDA4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4815162342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)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all users. No per-user identity, no MFA, no audit trail. A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FDA4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3-second devtools bypass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grants full access. Not deployable in a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regulated pharmacy.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00050" y="1340011"/>
            <a:ext cx="5766652" cy="13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MIGRATION · 5 PHASES · 4 WEEKS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03622" y="1507889"/>
            <a:ext cx="4999174" cy="384981"/>
          </a:xfrm>
          <a:prstGeom prst="roundRect">
            <a:avLst>
              <a:gd name="adj" fmla="val 24741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21494" y="1597186"/>
            <a:ext cx="608803" cy="120701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1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21494" y="1697199"/>
            <a:ext cx="800100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b="1" spc="101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DAY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121569" y="1582899"/>
            <a:ext cx="41776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NextAuth.js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httpOnly cookie,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EE7B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devtools bypass closed.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03622" y="1957164"/>
            <a:ext cx="4999174" cy="384981"/>
          </a:xfrm>
          <a:prstGeom prst="roundRect">
            <a:avLst>
              <a:gd name="adj" fmla="val 24741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21494" y="2046461"/>
            <a:ext cx="608803" cy="120701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1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21494" y="2146474"/>
            <a:ext cx="703369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b="1" spc="101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WEEK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121569" y="2032174"/>
            <a:ext cx="41776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Per-user accounts,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email verification, role assignment.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03622" y="2406439"/>
            <a:ext cx="4999174" cy="384981"/>
          </a:xfrm>
          <a:prstGeom prst="roundRect">
            <a:avLst>
              <a:gd name="adj" fmla="val 24741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21494" y="2495736"/>
            <a:ext cx="608803" cy="120701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1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3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21494" y="2595749"/>
            <a:ext cx="703369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b="1" spc="101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121569" y="2481449"/>
            <a:ext cx="42873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TOTP MFA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(Google Authenticator).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3622" y="2855714"/>
            <a:ext cx="4999174" cy="384981"/>
          </a:xfrm>
          <a:prstGeom prst="roundRect">
            <a:avLst>
              <a:gd name="adj" fmla="val 24741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21494" y="2945011"/>
            <a:ext cx="608803" cy="120701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1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4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21494" y="3045023"/>
            <a:ext cx="703369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b="1" spc="101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DAYS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1121569" y="2930723"/>
            <a:ext cx="42873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log,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7-year retention, admin dashboard.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03622" y="3304989"/>
            <a:ext cx="4999174" cy="384981"/>
          </a:xfrm>
          <a:prstGeom prst="roundRect">
            <a:avLst>
              <a:gd name="adj" fmla="val 24741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21494" y="3394286"/>
            <a:ext cx="608803" cy="120701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1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5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21494" y="3494298"/>
            <a:ext cx="703369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b="1" spc="101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DAYS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1121569" y="3379998"/>
            <a:ext cx="42873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RBAC,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idle timeout, rate limiting.</a:t>
            </a:r>
            <a:endParaRPr lang="en-US" sz="8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18" y="917191"/>
            <a:ext cx="3166132" cy="98628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581390" y="920762"/>
            <a:ext cx="3158989" cy="979140"/>
          </a:xfrm>
          <a:prstGeom prst="roundRect">
            <a:avLst>
              <a:gd name="adj" fmla="val 1361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8536781" y="101005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40" name="Text 35"/>
          <p:cNvSpPr/>
          <p:nvPr/>
        </p:nvSpPr>
        <p:spPr>
          <a:xfrm>
            <a:off x="5713549" y="1024347"/>
            <a:ext cx="2894670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913" dirty="0"/>
          </a:p>
        </p:txBody>
      </p:sp>
      <p:sp>
        <p:nvSpPr>
          <p:cNvPr id="41" name="Text 36"/>
          <p:cNvSpPr/>
          <p:nvPr/>
        </p:nvSpPr>
        <p:spPr>
          <a:xfrm>
            <a:off x="5713549" y="1310097"/>
            <a:ext cx="2894670" cy="134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spc="5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 UNLOCKED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5713549" y="1470447"/>
            <a:ext cx="575295" cy="165521"/>
          </a:xfrm>
          <a:prstGeom prst="roundRect">
            <a:avLst>
              <a:gd name="adj" fmla="val 23018"/>
            </a:avLst>
          </a:prstGeom>
          <a:solidFill>
            <a:srgbClr val="38BDF8">
              <a:alpha val="8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5713549" y="1479314"/>
            <a:ext cx="575295" cy="147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 history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6303132" y="1470447"/>
            <a:ext cx="383530" cy="165521"/>
          </a:xfrm>
          <a:prstGeom prst="roundRect">
            <a:avLst>
              <a:gd name="adj" fmla="val 23018"/>
            </a:avLst>
          </a:prstGeom>
          <a:solidFill>
            <a:srgbClr val="38BDF8">
              <a:alpha val="8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6196579" y="1479314"/>
            <a:ext cx="596636" cy="147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favorites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6700949" y="1470447"/>
            <a:ext cx="496156" cy="165521"/>
          </a:xfrm>
          <a:prstGeom prst="roundRect">
            <a:avLst>
              <a:gd name="adj" fmla="val 23018"/>
            </a:avLst>
          </a:prstGeom>
          <a:solidFill>
            <a:srgbClr val="38BDF8">
              <a:alpha val="8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6700949" y="1479314"/>
            <a:ext cx="496156" cy="147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7211392" y="1470447"/>
            <a:ext cx="404403" cy="165521"/>
          </a:xfrm>
          <a:prstGeom prst="roundRect">
            <a:avLst>
              <a:gd name="adj" fmla="val 23018"/>
            </a:avLst>
          </a:prstGeom>
          <a:solidFill>
            <a:srgbClr val="38BDF8">
              <a:alpha val="8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7067321" y="1479314"/>
            <a:ext cx="692546" cy="147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7630083" y="1470447"/>
            <a:ext cx="354397" cy="165521"/>
          </a:xfrm>
          <a:prstGeom prst="roundRect">
            <a:avLst>
              <a:gd name="adj" fmla="val 23018"/>
            </a:avLst>
          </a:prstGeom>
          <a:solidFill>
            <a:srgbClr val="38BDF8">
              <a:alpha val="8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6"/>
          <p:cNvSpPr/>
          <p:nvPr/>
        </p:nvSpPr>
        <p:spPr>
          <a:xfrm>
            <a:off x="7571305" y="1479314"/>
            <a:ext cx="471952" cy="134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5690689" y="1632521"/>
            <a:ext cx="666891" cy="165521"/>
          </a:xfrm>
          <a:prstGeom prst="roundRect">
            <a:avLst>
              <a:gd name="adj" fmla="val 23018"/>
            </a:avLst>
          </a:prstGeom>
          <a:solidFill>
            <a:srgbClr val="38BDF8">
              <a:alpha val="8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5713549" y="1641388"/>
            <a:ext cx="621171" cy="147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recently-viewed</a:t>
            </a:r>
            <a:endParaRPr lang="en-US" sz="800" dirty="0"/>
          </a:p>
        </p:txBody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18" y="1989200"/>
            <a:ext cx="3166132" cy="88203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5581390" y="1992771"/>
            <a:ext cx="3158989" cy="874886"/>
          </a:xfrm>
          <a:prstGeom prst="roundRect">
            <a:avLst>
              <a:gd name="adj" fmla="val 1524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8536781" y="208206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57" name="Text 51"/>
          <p:cNvSpPr/>
          <p:nvPr/>
        </p:nvSpPr>
        <p:spPr>
          <a:xfrm>
            <a:off x="5713549" y="2096356"/>
            <a:ext cx="2894670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913" dirty="0"/>
          </a:p>
        </p:txBody>
      </p:sp>
      <p:sp>
        <p:nvSpPr>
          <p:cNvPr id="58" name="Text 52"/>
          <p:cNvSpPr/>
          <p:nvPr/>
        </p:nvSpPr>
        <p:spPr>
          <a:xfrm>
            <a:off x="5713549" y="2382106"/>
            <a:ext cx="2894670" cy="134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spc="5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ATTACKS CLOSED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5713549" y="2544180"/>
            <a:ext cx="2894670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Devtools bypass, code sharing, brute force, session hijack, XSS exfil, CSRF, replay.</a:t>
            </a:r>
            <a:endParaRPr lang="en-US" sz="800" dirty="0"/>
          </a:p>
        </p:txBody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18" y="2956954"/>
            <a:ext cx="3166132" cy="700646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5581390" y="2960526"/>
            <a:ext cx="3158989" cy="693502"/>
          </a:xfrm>
          <a:prstGeom prst="roundRect">
            <a:avLst>
              <a:gd name="adj" fmla="val 19228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5"/>
          <p:cNvSpPr/>
          <p:nvPr/>
        </p:nvSpPr>
        <p:spPr>
          <a:xfrm>
            <a:off x="8536781" y="304982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984" dirty="0"/>
          </a:p>
        </p:txBody>
      </p:sp>
      <p:sp>
        <p:nvSpPr>
          <p:cNvPr id="63" name="Text 56"/>
          <p:cNvSpPr/>
          <p:nvPr/>
        </p:nvSpPr>
        <p:spPr>
          <a:xfrm>
            <a:off x="5713549" y="3064111"/>
            <a:ext cx="289467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Law 85-05</a:t>
            </a:r>
            <a:endParaRPr lang="en-US" sz="1350" dirty="0"/>
          </a:p>
        </p:txBody>
      </p:sp>
      <p:sp>
        <p:nvSpPr>
          <p:cNvPr id="64" name="Text 57"/>
          <p:cNvSpPr/>
          <p:nvPr/>
        </p:nvSpPr>
        <p:spPr>
          <a:xfrm>
            <a:off x="5713549" y="3278423"/>
            <a:ext cx="2894670" cy="134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spc="5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COMPLIANT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5713549" y="3440497"/>
            <a:ext cx="300439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Algerian pharmaceutical regulation ready.</a:t>
            </a:r>
            <a:endParaRPr lang="en-US" sz="800" dirty="0"/>
          </a:p>
        </p:txBody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3779267"/>
            <a:ext cx="8343900" cy="314325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403622" y="3782839"/>
            <a:ext cx="8336756" cy="307181"/>
          </a:xfrm>
          <a:prstGeom prst="roundRect">
            <a:avLst>
              <a:gd name="adj" fmla="val 37209"/>
            </a:avLst>
          </a:prstGeom>
          <a:noFill/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0"/>
          <p:cNvSpPr/>
          <p:nvPr/>
        </p:nvSpPr>
        <p:spPr>
          <a:xfrm>
            <a:off x="550069" y="386499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1406" dirty="0"/>
          </a:p>
        </p:txBody>
      </p:sp>
      <p:sp>
        <p:nvSpPr>
          <p:cNvPr id="69" name="Text 61"/>
          <p:cNvSpPr/>
          <p:nvPr/>
        </p:nvSpPr>
        <p:spPr>
          <a:xfrm>
            <a:off x="778669" y="3866778"/>
            <a:ext cx="7815263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Highest-ROI investment: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weeks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fixes P0 security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unlocks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features.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78BF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330398"/>
            <a:ext cx="1768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#2 · STATE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562570"/>
            <a:ext cx="3422772" cy="283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State Management </a:t>
            </a:r>
            <a:pPr algn="l" indent="0" marL="0">
              <a:lnSpc>
                <a:spcPts val="2066"/>
              </a:lnSpc>
              <a:buNone/>
            </a:pPr>
            <a:r>
              <a:rPr lang="en-US" sz="1913" b="1" spc="-3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2066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066"/>
              </a:lnSpc>
              <a:buNone/>
            </a:pPr>
            <a:r>
              <a:rPr lang="en-US" sz="1913" b="1" spc="-38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</a:t>
            </a:r>
            <a:pPr algn="l" indent="0" marL="0">
              <a:lnSpc>
                <a:spcPts val="2066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2066"/>
              </a:lnSpc>
              <a:buNone/>
            </a:pPr>
            <a:r>
              <a:rPr lang="en-US" sz="1913" b="1" spc="-38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2066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2066"/>
              </a:lnSpc>
              <a:buNone/>
            </a:pPr>
            <a:r>
              <a:rPr lang="en-US" sz="1913" b="1" spc="-38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1913" dirty="0"/>
          </a:p>
        </p:txBody>
      </p:sp>
      <p:sp>
        <p:nvSpPr>
          <p:cNvPr id="7" name="Text 3"/>
          <p:cNvSpPr/>
          <p:nvPr/>
        </p:nvSpPr>
        <p:spPr>
          <a:xfrm>
            <a:off x="8230386" y="273534"/>
            <a:ext cx="533317" cy="228029"/>
          </a:xfrm>
          <a:prstGeom prst="roundRect">
            <a:avLst>
              <a:gd name="adj" fmla="val 417710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8335863" y="328613"/>
            <a:ext cx="1514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473380" y="328613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547538" y="328613"/>
            <a:ext cx="12672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619" dirty="0"/>
          </a:p>
        </p:txBody>
      </p:sp>
      <p:sp>
        <p:nvSpPr>
          <p:cNvPr id="11" name="Text 7"/>
          <p:cNvSpPr/>
          <p:nvPr/>
        </p:nvSpPr>
        <p:spPr>
          <a:xfrm>
            <a:off x="8362876" y="546497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15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00050" y="910605"/>
            <a:ext cx="7858125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Zustand store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well-architected (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7DD3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 versioning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7DD3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typed fields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7DD3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 middleware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but 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FDA4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incomplete.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state gaps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cause features to </a:t>
            </a:r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FDA4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lose data on refresh.</a:t>
            </a:r>
            <a:endParaRPr lang="en-US" sz="788" dirty="0"/>
          </a:p>
        </p:txBody>
      </p:sp>
      <p:sp>
        <p:nvSpPr>
          <p:cNvPr id="13" name="Text 9"/>
          <p:cNvSpPr/>
          <p:nvPr/>
        </p:nvSpPr>
        <p:spPr>
          <a:xfrm>
            <a:off x="403622" y="1188430"/>
            <a:ext cx="2716969" cy="629543"/>
          </a:xfrm>
          <a:prstGeom prst="roundRect">
            <a:avLst>
              <a:gd name="adj" fmla="val 18156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25066" y="1295586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53641" y="132416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16" name="Text 12"/>
          <p:cNvSpPr/>
          <p:nvPr/>
        </p:nvSpPr>
        <p:spPr>
          <a:xfrm>
            <a:off x="878681" y="1292014"/>
            <a:ext cx="212403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GAP #1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78681" y="1408100"/>
            <a:ext cx="2233766" cy="13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 view in useState (not URL)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55821" y="1562512"/>
            <a:ext cx="1153224" cy="168021"/>
          </a:xfrm>
          <a:prstGeom prst="roundRect">
            <a:avLst>
              <a:gd name="adj" fmla="val 22676"/>
            </a:avLst>
          </a:prstGeom>
          <a:solidFill>
            <a:srgbClr val="38BDF8">
              <a:alpha val="8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78681" y="1571513"/>
            <a:ext cx="110750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closes via #1 Routing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213460" y="1188430"/>
            <a:ext cx="2716969" cy="629543"/>
          </a:xfrm>
          <a:prstGeom prst="roundRect">
            <a:avLst>
              <a:gd name="adj" fmla="val 18156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334903" y="1295586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363478" y="132416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3" name="Text 19"/>
          <p:cNvSpPr/>
          <p:nvPr/>
        </p:nvSpPr>
        <p:spPr>
          <a:xfrm>
            <a:off x="3688519" y="1292014"/>
            <a:ext cx="212403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GAP #2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688519" y="1408100"/>
            <a:ext cx="2233766" cy="13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Medication detail in modal state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692091" y="1575085"/>
            <a:ext cx="1526084" cy="142875"/>
          </a:xfrm>
          <a:prstGeom prst="roundRect">
            <a:avLst>
              <a:gd name="adj" fmla="val 26667"/>
            </a:avLst>
          </a:prstGeom>
          <a:solidFill>
            <a:srgbClr val="38BDF8">
              <a:alpha val="8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688519" y="1571513"/>
            <a:ext cx="1533227" cy="150019"/>
          </a:xfrm>
          <a:prstGeom prst="rect">
            <a:avLst/>
          </a:prstGeom>
          <a:noFill/>
          <a:ln/>
        </p:spPr>
        <p:txBody>
          <a:bodyPr wrap="square" lIns="50006" tIns="14288" rIns="50006" bIns="14288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34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 via intercepting routes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6023297" y="1188430"/>
            <a:ext cx="2717081" cy="629543"/>
          </a:xfrm>
          <a:prstGeom prst="roundRect">
            <a:avLst>
              <a:gd name="adj" fmla="val 18156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144741" y="1295586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F87171">
              <a:alpha val="14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173316" y="132416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30" name="Text 26"/>
          <p:cNvSpPr/>
          <p:nvPr/>
        </p:nvSpPr>
        <p:spPr>
          <a:xfrm>
            <a:off x="6498357" y="1292014"/>
            <a:ext cx="21241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GAP #3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498357" y="1408100"/>
            <a:ext cx="2124149" cy="135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Drug list not persisted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498357" y="1571513"/>
            <a:ext cx="223387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FDA4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most expensive state-loss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(3-5 min lost)</a:t>
            </a:r>
            <a:endParaRPr lang="en-US" sz="647" dirty="0"/>
          </a:p>
        </p:txBody>
      </p:sp>
      <p:sp>
        <p:nvSpPr>
          <p:cNvPr id="33" name="Text 29"/>
          <p:cNvSpPr/>
          <p:nvPr/>
        </p:nvSpPr>
        <p:spPr>
          <a:xfrm>
            <a:off x="403622" y="1910842"/>
            <a:ext cx="2716969" cy="598624"/>
          </a:xfrm>
          <a:prstGeom prst="roundRect">
            <a:avLst>
              <a:gd name="adj" fmla="val 19094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25066" y="2017998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553641" y="204657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406" dirty="0"/>
          </a:p>
        </p:txBody>
      </p:sp>
      <p:sp>
        <p:nvSpPr>
          <p:cNvPr id="36" name="Text 32"/>
          <p:cNvSpPr/>
          <p:nvPr/>
        </p:nvSpPr>
        <p:spPr>
          <a:xfrm>
            <a:off x="878681" y="2014426"/>
            <a:ext cx="212403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GAP #4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78681" y="2130512"/>
            <a:ext cx="2124038" cy="135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Copilot history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878681" y="2293925"/>
            <a:ext cx="2233766" cy="1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conversation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FDA4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lost on refresh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3213460" y="1910842"/>
            <a:ext cx="2716969" cy="598624"/>
          </a:xfrm>
          <a:prstGeom prst="roundRect">
            <a:avLst>
              <a:gd name="adj" fmla="val 19094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3334903" y="2017998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3363478" y="204657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2" name="Text 38"/>
          <p:cNvSpPr/>
          <p:nvPr/>
        </p:nvSpPr>
        <p:spPr>
          <a:xfrm>
            <a:off x="3688519" y="2014426"/>
            <a:ext cx="212403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GAP #5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688519" y="2130512"/>
            <a:ext cx="2233766" cy="13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Recently-viewed capped at 1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3688519" y="2293925"/>
            <a:ext cx="2124038" cy="1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should be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6023297" y="1910842"/>
            <a:ext cx="2717081" cy="598624"/>
          </a:xfrm>
          <a:prstGeom prst="roundRect">
            <a:avLst>
              <a:gd name="adj" fmla="val 19094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6144741" y="2017998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6173316" y="204657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8" name="Text 44"/>
          <p:cNvSpPr/>
          <p:nvPr/>
        </p:nvSpPr>
        <p:spPr>
          <a:xfrm>
            <a:off x="6498357" y="2014426"/>
            <a:ext cx="21241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GAP #6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6498357" y="2130512"/>
            <a:ext cx="2124149" cy="135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cross-tab sync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6498357" y="2293925"/>
            <a:ext cx="2233877" cy="1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favorites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FDA4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invisible across tabs</a:t>
            </a:r>
            <a:endParaRPr lang="en-US" sz="800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598762"/>
            <a:ext cx="8343900" cy="471488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403622" y="2602334"/>
            <a:ext cx="8336756" cy="464344"/>
          </a:xfrm>
          <a:prstGeom prst="roundRect">
            <a:avLst>
              <a:gd name="adj" fmla="val 24615"/>
            </a:avLst>
          </a:prstGeom>
          <a:noFill/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535781" y="276295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06" dirty="0"/>
          </a:p>
        </p:txBody>
      </p:sp>
      <p:sp>
        <p:nvSpPr>
          <p:cNvPr id="54" name="Text 49"/>
          <p:cNvSpPr/>
          <p:nvPr/>
        </p:nvSpPr>
        <p:spPr>
          <a:xfrm>
            <a:off x="735806" y="2732484"/>
            <a:ext cx="96021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SAME-DAY THREE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735806" y="2834283"/>
            <a:ext cx="870868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Ship today.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1593168" y="2691631"/>
            <a:ext cx="7144" cy="28575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2"/>
          <p:cNvSpPr/>
          <p:nvPr/>
        </p:nvSpPr>
        <p:spPr>
          <a:xfrm>
            <a:off x="1714612" y="2731493"/>
            <a:ext cx="1224818" cy="206026"/>
          </a:xfrm>
          <a:prstGeom prst="roundRect">
            <a:avLst>
              <a:gd name="adj" fmla="val 27739"/>
            </a:avLst>
          </a:prstGeom>
          <a:solidFill>
            <a:srgbClr val="0F172A">
              <a:alpha val="5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1921780" y="2785393"/>
            <a:ext cx="104622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drug list in URL ·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1786049" y="278807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914" dirty="0"/>
          </a:p>
        </p:txBody>
      </p:sp>
      <p:sp>
        <p:nvSpPr>
          <p:cNvPr id="60" name="Text 55"/>
          <p:cNvSpPr/>
          <p:nvPr/>
        </p:nvSpPr>
        <p:spPr>
          <a:xfrm>
            <a:off x="2758712" y="2778249"/>
            <a:ext cx="12917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4h</a:t>
            </a:r>
            <a:endParaRPr lang="en-US" sz="600" dirty="0"/>
          </a:p>
        </p:txBody>
      </p:sp>
      <p:sp>
        <p:nvSpPr>
          <p:cNvPr id="61" name="Text 56"/>
          <p:cNvSpPr/>
          <p:nvPr/>
        </p:nvSpPr>
        <p:spPr>
          <a:xfrm>
            <a:off x="2996580" y="2759497"/>
            <a:ext cx="935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3115791" y="2746102"/>
            <a:ext cx="1669293" cy="176808"/>
          </a:xfrm>
          <a:prstGeom prst="roundRect">
            <a:avLst>
              <a:gd name="adj" fmla="val 32323"/>
            </a:avLst>
          </a:prstGeom>
          <a:solidFill>
            <a:srgbClr val="0F172A">
              <a:alpha val="5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8"/>
          <p:cNvSpPr/>
          <p:nvPr/>
        </p:nvSpPr>
        <p:spPr>
          <a:xfrm>
            <a:off x="3319388" y="2785393"/>
            <a:ext cx="1497843" cy="125403"/>
          </a:xfrm>
          <a:prstGeom prst="rect">
            <a:avLst/>
          </a:prstGeom>
          <a:noFill/>
          <a:ln/>
        </p:spPr>
        <p:txBody>
          <a:bodyPr wrap="none" lIns="64294" tIns="28575" rIns="64294" bIns="28575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 history in Zustand ·</a:t>
            </a:r>
            <a:endParaRPr lang="en-US" sz="600" dirty="0"/>
          </a:p>
        </p:txBody>
      </p:sp>
      <p:sp>
        <p:nvSpPr>
          <p:cNvPr id="64" name="Text 59"/>
          <p:cNvSpPr/>
          <p:nvPr/>
        </p:nvSpPr>
        <p:spPr>
          <a:xfrm>
            <a:off x="3183657" y="278807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914" dirty="0"/>
          </a:p>
        </p:txBody>
      </p:sp>
      <p:sp>
        <p:nvSpPr>
          <p:cNvPr id="65" name="Text 60"/>
          <p:cNvSpPr/>
          <p:nvPr/>
        </p:nvSpPr>
        <p:spPr>
          <a:xfrm>
            <a:off x="4607939" y="2778249"/>
            <a:ext cx="12917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2h</a:t>
            </a:r>
            <a:endParaRPr lang="en-US" sz="600" dirty="0"/>
          </a:p>
        </p:txBody>
      </p:sp>
      <p:sp>
        <p:nvSpPr>
          <p:cNvPr id="66" name="Text 61"/>
          <p:cNvSpPr/>
          <p:nvPr/>
        </p:nvSpPr>
        <p:spPr>
          <a:xfrm>
            <a:off x="4845807" y="2759497"/>
            <a:ext cx="935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800" dirty="0"/>
          </a:p>
        </p:txBody>
      </p:sp>
      <p:sp>
        <p:nvSpPr>
          <p:cNvPr id="67" name="Text 62"/>
          <p:cNvSpPr/>
          <p:nvPr/>
        </p:nvSpPr>
        <p:spPr>
          <a:xfrm>
            <a:off x="4961446" y="2731493"/>
            <a:ext cx="1134517" cy="206026"/>
          </a:xfrm>
          <a:prstGeom prst="roundRect">
            <a:avLst>
              <a:gd name="adj" fmla="val 27739"/>
            </a:avLst>
          </a:prstGeom>
          <a:solidFill>
            <a:srgbClr val="0F172A">
              <a:alpha val="5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3"/>
          <p:cNvSpPr/>
          <p:nvPr/>
        </p:nvSpPr>
        <p:spPr>
          <a:xfrm>
            <a:off x="5168615" y="2785393"/>
            <a:ext cx="92734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cross-tab sync ·</a:t>
            </a:r>
            <a:endParaRPr lang="en-US" sz="800" dirty="0"/>
          </a:p>
        </p:txBody>
      </p:sp>
      <p:sp>
        <p:nvSpPr>
          <p:cNvPr id="69" name="Text 64"/>
          <p:cNvSpPr/>
          <p:nvPr/>
        </p:nvSpPr>
        <p:spPr>
          <a:xfrm>
            <a:off x="5032883" y="278807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914" dirty="0"/>
          </a:p>
        </p:txBody>
      </p:sp>
      <p:sp>
        <p:nvSpPr>
          <p:cNvPr id="70" name="Text 65"/>
          <p:cNvSpPr/>
          <p:nvPr/>
        </p:nvSpPr>
        <p:spPr>
          <a:xfrm>
            <a:off x="5915245" y="2778249"/>
            <a:ext cx="12917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2h</a:t>
            </a:r>
            <a:endParaRPr lang="en-US" sz="600" dirty="0"/>
          </a:p>
        </p:txBody>
      </p:sp>
      <p:sp>
        <p:nvSpPr>
          <p:cNvPr id="71" name="Text 66"/>
          <p:cNvSpPr/>
          <p:nvPr/>
        </p:nvSpPr>
        <p:spPr>
          <a:xfrm>
            <a:off x="6210263" y="2691631"/>
            <a:ext cx="7144" cy="28575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7"/>
          <p:cNvSpPr/>
          <p:nvPr/>
        </p:nvSpPr>
        <p:spPr>
          <a:xfrm>
            <a:off x="6654484" y="2716634"/>
            <a:ext cx="12244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800" dirty="0"/>
          </a:p>
        </p:txBody>
      </p:sp>
      <p:sp>
        <p:nvSpPr>
          <p:cNvPr id="73" name="Text 68"/>
          <p:cNvSpPr/>
          <p:nvPr/>
        </p:nvSpPr>
        <p:spPr>
          <a:xfrm>
            <a:off x="6830365" y="2813075"/>
            <a:ext cx="104852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day · ~150 LOC</a:t>
            </a:r>
            <a:endParaRPr lang="en-US" sz="800" dirty="0"/>
          </a:p>
        </p:txBody>
      </p:sp>
      <p:sp>
        <p:nvSpPr>
          <p:cNvPr id="74" name="Text 69"/>
          <p:cNvSpPr/>
          <p:nvPr/>
        </p:nvSpPr>
        <p:spPr>
          <a:xfrm>
            <a:off x="7766489" y="2716634"/>
            <a:ext cx="8417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9"/>
              </a:lnSpc>
              <a:buNone/>
            </a:pPr>
            <a:r>
              <a:rPr lang="en-US" sz="800" spc="7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</a:t>
            </a:r>
            <a:endParaRPr lang="en-US" sz="800" dirty="0"/>
          </a:p>
        </p:txBody>
      </p:sp>
      <p:sp>
        <p:nvSpPr>
          <p:cNvPr id="75" name="Text 70"/>
          <p:cNvSpPr/>
          <p:nvPr/>
        </p:nvSpPr>
        <p:spPr>
          <a:xfrm>
            <a:off x="7887401" y="2813075"/>
            <a:ext cx="72081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of 6 gaps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330398"/>
            <a:ext cx="20251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#36 · COPILOT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533995"/>
            <a:ext cx="2882001" cy="28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Copilot Core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1913" dirty="0"/>
          </a:p>
        </p:txBody>
      </p:sp>
      <p:sp>
        <p:nvSpPr>
          <p:cNvPr id="7" name="Text 3"/>
          <p:cNvSpPr/>
          <p:nvPr/>
        </p:nvSpPr>
        <p:spPr>
          <a:xfrm>
            <a:off x="8279606" y="273534"/>
            <a:ext cx="482203" cy="228029"/>
          </a:xfrm>
          <a:prstGeom prst="roundRect">
            <a:avLst>
              <a:gd name="adj" fmla="val 417710"/>
            </a:avLst>
          </a:prstGeom>
          <a:solidFill>
            <a:srgbClr val="A78BFA">
              <a:alpha val="14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8383191" y="328613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473380" y="328613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547538" y="328613"/>
            <a:ext cx="12672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619" dirty="0"/>
          </a:p>
        </p:txBody>
      </p:sp>
      <p:sp>
        <p:nvSpPr>
          <p:cNvPr id="11" name="Text 7"/>
          <p:cNvSpPr/>
          <p:nvPr/>
        </p:nvSpPr>
        <p:spPr>
          <a:xfrm>
            <a:off x="8362876" y="546497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15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629681" y="929692"/>
            <a:ext cx="171785" cy="142875"/>
          </a:xfrm>
          <a:prstGeom prst="roundRect">
            <a:avLst>
              <a:gd name="adj" fmla="val 26667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830041" y="929692"/>
            <a:ext cx="171785" cy="142875"/>
          </a:xfrm>
          <a:prstGeom prst="roundRect">
            <a:avLst>
              <a:gd name="adj" fmla="val 26667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030401" y="929692"/>
            <a:ext cx="343793" cy="142875"/>
          </a:xfrm>
          <a:prstGeom prst="roundRect">
            <a:avLst>
              <a:gd name="adj" fmla="val 26667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271404" y="922548"/>
            <a:ext cx="539242" cy="157163"/>
          </a:xfrm>
          <a:prstGeom prst="roundRect">
            <a:avLst>
              <a:gd name="adj" fmla="val 24242"/>
            </a:avLst>
          </a:prstGeom>
          <a:solidFill>
            <a:srgbClr val="A78BF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00050" y="1086855"/>
            <a:ext cx="328836" cy="157163"/>
          </a:xfrm>
          <a:prstGeom prst="roundRect">
            <a:avLst>
              <a:gd name="adj" fmla="val 24242"/>
            </a:avLst>
          </a:prstGeom>
          <a:solidFill>
            <a:srgbClr val="A78BF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57461" y="1086855"/>
            <a:ext cx="312986" cy="157163"/>
          </a:xfrm>
          <a:prstGeom prst="roundRect">
            <a:avLst>
              <a:gd name="adj" fmla="val 24242"/>
            </a:avLst>
          </a:prstGeom>
          <a:solidFill>
            <a:srgbClr val="A78BF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00050" y="915405"/>
            <a:ext cx="4589078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signature feature: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D8B4F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Gemini-powered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trilingual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38BDF8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FRARDarija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, 3 audience modes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C4B5FD"/>
                </a:solidFill>
                <a:highlight>
                  <a:srgbClr val="A78BFA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professionnelpatientenfant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structured clinical output, grounded in the Algerian pharmaceutical dataset.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6EE7B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Genuinely innovative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but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bugs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prevent it from delivering full value.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00050" y="1512577"/>
            <a:ext cx="6023739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BUGS · FIX PLAN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03622" y="1680456"/>
            <a:ext cx="4581934" cy="363885"/>
          </a:xfrm>
          <a:prstGeom prst="roundRect">
            <a:avLst>
              <a:gd name="adj" fmla="val 26176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21494" y="1755465"/>
            <a:ext cx="507206" cy="12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5"/>
              </a:lnSpc>
              <a:buNone/>
            </a:pPr>
            <a:r>
              <a:rPr lang="en-US" sz="800" b="1" spc="96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BUG #1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21494" y="1857933"/>
            <a:ext cx="73152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96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078706" y="1815071"/>
            <a:ext cx="1163797" cy="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Version label inconsistency</a:t>
            </a:r>
            <a:endParaRPr lang="en-US" sz="647" dirty="0"/>
          </a:p>
        </p:txBody>
      </p:sp>
      <p:sp>
        <p:nvSpPr>
          <p:cNvPr id="24" name="Text 20"/>
          <p:cNvSpPr/>
          <p:nvPr/>
        </p:nvSpPr>
        <p:spPr>
          <a:xfrm>
            <a:off x="2156778" y="1807927"/>
            <a:ext cx="740501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8B4F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(3.8 vs 3.6)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524003" y="1778387"/>
            <a:ext cx="357969" cy="168021"/>
          </a:xfrm>
          <a:prstGeom prst="roundRect">
            <a:avLst>
              <a:gd name="adj" fmla="val 22676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524003" y="1787389"/>
            <a:ext cx="3579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min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03622" y="2108634"/>
            <a:ext cx="4581934" cy="363885"/>
          </a:xfrm>
          <a:prstGeom prst="roundRect">
            <a:avLst>
              <a:gd name="adj" fmla="val 26176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21494" y="2183643"/>
            <a:ext cx="507206" cy="12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5"/>
              </a:lnSpc>
              <a:buNone/>
            </a:pPr>
            <a:r>
              <a:rPr lang="en-US" sz="800" b="1" spc="96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BUG #2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21494" y="2286112"/>
            <a:ext cx="640187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96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078706" y="2243249"/>
            <a:ext cx="1291822" cy="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Suggested prompts dead-click</a:t>
            </a:r>
            <a:endParaRPr lang="en-US" sz="647" dirty="0"/>
          </a:p>
        </p:txBody>
      </p:sp>
      <p:sp>
        <p:nvSpPr>
          <p:cNvPr id="31" name="Text 27"/>
          <p:cNvSpPr/>
          <p:nvPr/>
        </p:nvSpPr>
        <p:spPr>
          <a:xfrm>
            <a:off x="4661632" y="2206566"/>
            <a:ext cx="220340" cy="168021"/>
          </a:xfrm>
          <a:prstGeom prst="roundRect">
            <a:avLst>
              <a:gd name="adj" fmla="val 22676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661632" y="2215567"/>
            <a:ext cx="2203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1h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03622" y="2536813"/>
            <a:ext cx="4581934" cy="363885"/>
          </a:xfrm>
          <a:prstGeom prst="roundRect">
            <a:avLst>
              <a:gd name="adj" fmla="val 26176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21494" y="2611822"/>
            <a:ext cx="507206" cy="12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5"/>
              </a:lnSpc>
              <a:buNone/>
            </a:pPr>
            <a:r>
              <a:rPr lang="en-US" sz="800" b="1" spc="96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BUG #3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21494" y="2714290"/>
            <a:ext cx="640187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96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1078706" y="2671428"/>
            <a:ext cx="1034448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conversation history</a:t>
            </a:r>
            <a:endParaRPr lang="en-US" sz="647" dirty="0"/>
          </a:p>
        </p:txBody>
      </p:sp>
      <p:sp>
        <p:nvSpPr>
          <p:cNvPr id="37" name="Text 33"/>
          <p:cNvSpPr/>
          <p:nvPr/>
        </p:nvSpPr>
        <p:spPr>
          <a:xfrm>
            <a:off x="4524003" y="2634744"/>
            <a:ext cx="357969" cy="168021"/>
          </a:xfrm>
          <a:prstGeom prst="roundRect">
            <a:avLst>
              <a:gd name="adj" fmla="val 22676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524003" y="2643746"/>
            <a:ext cx="3579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day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03622" y="2964991"/>
            <a:ext cx="4581934" cy="475283"/>
          </a:xfrm>
          <a:prstGeom prst="roundRect">
            <a:avLst>
              <a:gd name="adj" fmla="val 20041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21494" y="3040000"/>
            <a:ext cx="507206" cy="12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5"/>
              </a:lnSpc>
              <a:buNone/>
            </a:pPr>
            <a:r>
              <a:rPr lang="en-US" sz="800" b="1" spc="96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BUG #4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21494" y="3142469"/>
            <a:ext cx="45720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96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PATIENT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1078706" y="3141018"/>
            <a:ext cx="37615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 patient = Mode pro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(same output)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prompt fix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4661632" y="3118622"/>
            <a:ext cx="220340" cy="168021"/>
          </a:xfrm>
          <a:prstGeom prst="roundRect">
            <a:avLst>
              <a:gd name="adj" fmla="val 22676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4661632" y="3127623"/>
            <a:ext cx="2203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4h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03622" y="3504567"/>
            <a:ext cx="4581934" cy="363885"/>
          </a:xfrm>
          <a:prstGeom prst="roundRect">
            <a:avLst>
              <a:gd name="adj" fmla="val 26176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521494" y="3579577"/>
            <a:ext cx="507206" cy="12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5"/>
              </a:lnSpc>
              <a:buNone/>
            </a:pPr>
            <a:r>
              <a:rPr lang="en-US" sz="800" b="1" spc="96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BUG #5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89320" y="3682045"/>
            <a:ext cx="704535" cy="1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96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STREAMING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1078706" y="3624895"/>
            <a:ext cx="36129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11s batch render, no streaming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AI SDK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4524003" y="3602499"/>
            <a:ext cx="357969" cy="168021"/>
          </a:xfrm>
          <a:prstGeom prst="roundRect">
            <a:avLst>
              <a:gd name="adj" fmla="val 22676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4524003" y="3611500"/>
            <a:ext cx="3579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day</a:t>
            </a:r>
            <a:endParaRPr lang="en-US" sz="800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578" y="915405"/>
            <a:ext cx="3583372" cy="829233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5164150" y="918976"/>
            <a:ext cx="3576228" cy="822089"/>
          </a:xfrm>
          <a:prstGeom prst="roundRect">
            <a:avLst>
              <a:gd name="adj" fmla="val 1622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8522494" y="102256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54" name="Text 49"/>
          <p:cNvSpPr/>
          <p:nvPr/>
        </p:nvSpPr>
        <p:spPr>
          <a:xfrm>
            <a:off x="5296309" y="1036848"/>
            <a:ext cx="3311909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10×</a:t>
            </a:r>
            <a:endParaRPr lang="en-US" sz="2138" dirty="0"/>
          </a:p>
        </p:txBody>
      </p:sp>
      <p:sp>
        <p:nvSpPr>
          <p:cNvPr id="55" name="Text 50"/>
          <p:cNvSpPr/>
          <p:nvPr/>
        </p:nvSpPr>
        <p:spPr>
          <a:xfrm>
            <a:off x="5296309" y="1351173"/>
            <a:ext cx="3421637" cy="134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spc="5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PERCEIVED LATENCY IMPROVEMENT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5296309" y="1513247"/>
            <a:ext cx="3421637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11s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EE7B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1s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via streaming.</a:t>
            </a:r>
            <a:endParaRPr lang="en-US" sz="800" dirty="0"/>
          </a:p>
        </p:txBody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578" y="1830363"/>
            <a:ext cx="3583372" cy="829233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5164150" y="1833935"/>
            <a:ext cx="3576228" cy="822089"/>
          </a:xfrm>
          <a:prstGeom prst="roundRect">
            <a:avLst>
              <a:gd name="adj" fmla="val 1622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3"/>
          <p:cNvSpPr/>
          <p:nvPr/>
        </p:nvSpPr>
        <p:spPr>
          <a:xfrm>
            <a:off x="8522494" y="193751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984" dirty="0"/>
          </a:p>
        </p:txBody>
      </p:sp>
      <p:sp>
        <p:nvSpPr>
          <p:cNvPr id="60" name="Text 54"/>
          <p:cNvSpPr/>
          <p:nvPr/>
        </p:nvSpPr>
        <p:spPr>
          <a:xfrm>
            <a:off x="5296309" y="1951806"/>
            <a:ext cx="3311909" cy="286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138" dirty="0"/>
          </a:p>
        </p:txBody>
      </p:sp>
      <p:sp>
        <p:nvSpPr>
          <p:cNvPr id="61" name="Text 55"/>
          <p:cNvSpPr/>
          <p:nvPr/>
        </p:nvSpPr>
        <p:spPr>
          <a:xfrm>
            <a:off x="5296309" y="2266131"/>
            <a:ext cx="3421637" cy="134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spc="5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LANGUAGES (FR / AR / DARIJA)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5296309" y="2428205"/>
            <a:ext cx="3421637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Trilingual input + native Darija output.</a:t>
            </a:r>
            <a:endParaRPr lang="en-US" sz="800" dirty="0"/>
          </a:p>
        </p:txBody>
      </p:sp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0578" y="2745321"/>
            <a:ext cx="3583372" cy="757796"/>
          </a:xfrm>
          <a:prstGeom prst="rect">
            <a:avLst/>
          </a:prstGeom>
        </p:spPr>
      </p:pic>
      <p:sp>
        <p:nvSpPr>
          <p:cNvPr id="64" name="Text 57"/>
          <p:cNvSpPr/>
          <p:nvPr/>
        </p:nvSpPr>
        <p:spPr>
          <a:xfrm>
            <a:off x="5164150" y="2748893"/>
            <a:ext cx="3576228" cy="750652"/>
          </a:xfrm>
          <a:prstGeom prst="roundRect">
            <a:avLst>
              <a:gd name="adj" fmla="val 1776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8522494" y="285247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984" dirty="0"/>
          </a:p>
        </p:txBody>
      </p:sp>
      <p:sp>
        <p:nvSpPr>
          <p:cNvPr id="66" name="Text 59"/>
          <p:cNvSpPr/>
          <p:nvPr/>
        </p:nvSpPr>
        <p:spPr>
          <a:xfrm>
            <a:off x="5296309" y="2866765"/>
            <a:ext cx="3311909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Darija</a:t>
            </a:r>
            <a:endParaRPr lang="en-US" sz="1575" dirty="0"/>
          </a:p>
        </p:txBody>
      </p:sp>
      <p:sp>
        <p:nvSpPr>
          <p:cNvPr id="67" name="Text 60"/>
          <p:cNvSpPr/>
          <p:nvPr/>
        </p:nvSpPr>
        <p:spPr>
          <a:xfrm>
            <a:off x="5296309" y="3109652"/>
            <a:ext cx="3421637" cy="134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spc="5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NATIVE OUTPUT (MARKET-FIRST)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5296309" y="3271726"/>
            <a:ext cx="3311909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competing Algerian copilot ships Darija-native.</a:t>
            </a:r>
            <a:endParaRPr lang="en-US" sz="800" dirty="0"/>
          </a:p>
        </p:txBody>
      </p:sp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3957749"/>
            <a:ext cx="8343900" cy="314325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403622" y="3961321"/>
            <a:ext cx="8336756" cy="307181"/>
          </a:xfrm>
          <a:prstGeom prst="roundRect">
            <a:avLst>
              <a:gd name="adj" fmla="val 37209"/>
            </a:avLst>
          </a:prstGeom>
          <a:noFill/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3"/>
          <p:cNvSpPr/>
          <p:nvPr/>
        </p:nvSpPr>
        <p:spPr>
          <a:xfrm>
            <a:off x="550069" y="404347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406" dirty="0"/>
          </a:p>
        </p:txBody>
      </p:sp>
      <p:sp>
        <p:nvSpPr>
          <p:cNvPr id="72" name="Text 64"/>
          <p:cNvSpPr/>
          <p:nvPr/>
        </p:nvSpPr>
        <p:spPr>
          <a:xfrm>
            <a:off x="778669" y="4045260"/>
            <a:ext cx="7815263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 prompt upgrade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zero-cost: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same API call,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better output.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78BF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330398"/>
            <a:ext cx="14275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SYSTEM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562570"/>
            <a:ext cx="5531261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Color System + Typography 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4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1688" dirty="0"/>
          </a:p>
        </p:txBody>
      </p:sp>
      <p:sp>
        <p:nvSpPr>
          <p:cNvPr id="7" name="Text 3"/>
          <p:cNvSpPr/>
          <p:nvPr/>
        </p:nvSpPr>
        <p:spPr>
          <a:xfrm>
            <a:off x="8362876" y="285750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15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888281"/>
            <a:ext cx="4114800" cy="25278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3622" y="891853"/>
            <a:ext cx="4107656" cy="2520739"/>
          </a:xfrm>
          <a:prstGeom prst="roundRect">
            <a:avLst>
              <a:gd name="adj" fmla="val 604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550069" y="1024012"/>
            <a:ext cx="1377880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#53 · COLOR SYSTEM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550069" y="1150813"/>
            <a:ext cx="123755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Color System</a:t>
            </a:r>
            <a:endParaRPr lang="en-US" sz="1125" dirty="0"/>
          </a:p>
        </p:txBody>
      </p:sp>
      <p:sp>
        <p:nvSpPr>
          <p:cNvPr id="12" name="Text 7"/>
          <p:cNvSpPr/>
          <p:nvPr/>
        </p:nvSpPr>
        <p:spPr>
          <a:xfrm>
            <a:off x="3822594" y="1013511"/>
            <a:ext cx="563093" cy="196025"/>
          </a:xfrm>
          <a:prstGeom prst="roundRect">
            <a:avLst>
              <a:gd name="adj" fmla="val 29154"/>
            </a:avLst>
          </a:prstGeom>
          <a:solidFill>
            <a:srgbClr val="34D399">
              <a:alpha val="14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3843449" y="1024012"/>
            <a:ext cx="5213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Grade: A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550069" y="1479426"/>
            <a:ext cx="35719" cy="35719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50081" y="1436563"/>
            <a:ext cx="371475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~400 CSS tokens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across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categories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50069" y="1669963"/>
            <a:ext cx="35719" cy="35719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50081" y="1641388"/>
            <a:ext cx="1164038" cy="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7-level clinical state system</a:t>
            </a:r>
            <a:endParaRPr lang="en-US" sz="647" dirty="0"/>
          </a:p>
        </p:txBody>
      </p:sp>
      <p:sp>
        <p:nvSpPr>
          <p:cNvPr id="18" name="Text 13"/>
          <p:cNvSpPr/>
          <p:nvPr/>
        </p:nvSpPr>
        <p:spPr>
          <a:xfrm>
            <a:off x="650081" y="1781448"/>
            <a:ext cx="260077" cy="142143"/>
          </a:xfrm>
          <a:prstGeom prst="roundRect">
            <a:avLst>
              <a:gd name="adj" fmla="val 26804"/>
            </a:avLst>
          </a:prstGeom>
          <a:solidFill>
            <a:srgbClr val="34D399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37656" y="1789063"/>
            <a:ext cx="284927" cy="126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800" spc="21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938733" y="1781448"/>
            <a:ext cx="390785" cy="142143"/>
          </a:xfrm>
          <a:prstGeom prst="roundRect">
            <a:avLst>
              <a:gd name="adj" fmla="val 26804"/>
            </a:avLst>
          </a:prstGeom>
          <a:solidFill>
            <a:srgbClr val="FBBF24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898150" y="1789063"/>
            <a:ext cx="471952" cy="126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800" spc="21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358094" y="1781448"/>
            <a:ext cx="347253" cy="142143"/>
          </a:xfrm>
          <a:prstGeom prst="roundRect">
            <a:avLst>
              <a:gd name="adj" fmla="val 26804"/>
            </a:avLst>
          </a:prstGeom>
          <a:solidFill>
            <a:srgbClr val="F87171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1326915" y="1789063"/>
            <a:ext cx="409611" cy="126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800" spc="21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danger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1733922" y="1781448"/>
            <a:ext cx="347253" cy="142143"/>
          </a:xfrm>
          <a:prstGeom prst="roundRect">
            <a:avLst>
              <a:gd name="adj" fmla="val 26804"/>
            </a:avLst>
          </a:prstGeom>
          <a:solidFill>
            <a:srgbClr val="BE123C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1702743" y="1789063"/>
            <a:ext cx="409611" cy="126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800" spc="21" kern="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severe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2109750" y="1781448"/>
            <a:ext cx="260077" cy="142143"/>
          </a:xfrm>
          <a:prstGeom prst="roundRect">
            <a:avLst>
              <a:gd name="adj" fmla="val 26804"/>
            </a:avLst>
          </a:prstGeom>
          <a:solidFill>
            <a:srgbClr val="38BDF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2097325" y="1789063"/>
            <a:ext cx="284927" cy="126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800" spc="21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2398402" y="1781448"/>
            <a:ext cx="260077" cy="142143"/>
          </a:xfrm>
          <a:prstGeom prst="roundRect">
            <a:avLst>
              <a:gd name="adj" fmla="val 26804"/>
            </a:avLst>
          </a:prstGeom>
          <a:solidFill>
            <a:srgbClr val="64748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2385977" y="1789063"/>
            <a:ext cx="284927" cy="126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800" spc="2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687055" y="1781448"/>
            <a:ext cx="390785" cy="142143"/>
          </a:xfrm>
          <a:prstGeom prst="roundRect">
            <a:avLst>
              <a:gd name="adj" fmla="val 26804"/>
            </a:avLst>
          </a:prstGeom>
          <a:solidFill>
            <a:srgbClr val="A78BFA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2646471" y="1789063"/>
            <a:ext cx="471952" cy="126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800" spc="21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550069" y="2030276"/>
            <a:ext cx="35719" cy="35719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650081" y="1987414"/>
            <a:ext cx="3714750" cy="36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20-palette Nuancier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cultural identities </a:t>
            </a:r>
            <a:pPr algn="l" indent="0" marL="0">
              <a:lnSpc>
                <a:spcPts val="938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(Dune &amp; Cèdre de l'Atlas, Perle &amp; Azur d'Alger)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550069" y="2377976"/>
            <a:ext cx="35719" cy="35719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2389919" y="2342257"/>
            <a:ext cx="613804" cy="107156"/>
          </a:xfrm>
          <a:prstGeom prst="roundRect">
            <a:avLst>
              <a:gd name="adj" fmla="val 35556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650081" y="2335113"/>
            <a:ext cx="3714750" cy="37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9-level shadow system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themed glows via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8BDF8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color-mix()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550069" y="2732819"/>
            <a:ext cx="35719" cy="35719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650081" y="2689957"/>
            <a:ext cx="371475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11/12 contrast pairs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pass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6EE7B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WCAG AAA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553641" y="2926928"/>
            <a:ext cx="3807619" cy="364220"/>
          </a:xfrm>
          <a:prstGeom prst="roundRect">
            <a:avLst>
              <a:gd name="adj" fmla="val 23537"/>
            </a:avLst>
          </a:prstGeom>
          <a:solidFill>
            <a:srgbClr val="38BDF8">
              <a:alpha val="6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635794" y="3116573"/>
            <a:ext cx="1672865" cy="119703"/>
          </a:xfrm>
          <a:prstGeom prst="rect">
            <a:avLst/>
          </a:prstGeom>
          <a:noFill/>
          <a:ln/>
        </p:spPr>
        <p:txBody>
          <a:bodyPr wrap="square" lIns="78581" tIns="64294" rIns="78581" bIns="64294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Storybook + per-palette verification + CI checks</a:t>
            </a:r>
            <a:endParaRPr lang="en-US" sz="619" dirty="0"/>
          </a:p>
        </p:txBody>
      </p:sp>
      <p:sp>
        <p:nvSpPr>
          <p:cNvPr id="41" name="Text 36"/>
          <p:cNvSpPr/>
          <p:nvPr/>
        </p:nvSpPr>
        <p:spPr>
          <a:xfrm>
            <a:off x="635794" y="2994794"/>
            <a:ext cx="3643313" cy="94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34"/>
              </a:lnSpc>
              <a:buNone/>
            </a:pPr>
            <a:r>
              <a:rPr lang="en-US" sz="800" b="1" spc="81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TO A+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299660" y="3116573"/>
            <a:ext cx="56306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(2 weeks)</a:t>
            </a:r>
            <a:endParaRPr lang="en-US" sz="8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888281"/>
            <a:ext cx="4114800" cy="2527883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4632722" y="891853"/>
            <a:ext cx="4107656" cy="2520739"/>
          </a:xfrm>
          <a:prstGeom prst="roundRect">
            <a:avLst>
              <a:gd name="adj" fmla="val 604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779169" y="1024012"/>
            <a:ext cx="1224799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#54 · TYPOGRAPHY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4779169" y="1150813"/>
            <a:ext cx="110006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Typography</a:t>
            </a:r>
            <a:endParaRPr lang="en-US" sz="1125" dirty="0"/>
          </a:p>
        </p:txBody>
      </p:sp>
      <p:sp>
        <p:nvSpPr>
          <p:cNvPr id="47" name="Text 41"/>
          <p:cNvSpPr/>
          <p:nvPr/>
        </p:nvSpPr>
        <p:spPr>
          <a:xfrm>
            <a:off x="8051694" y="1013511"/>
            <a:ext cx="563093" cy="196025"/>
          </a:xfrm>
          <a:prstGeom prst="roundRect">
            <a:avLst>
              <a:gd name="adj" fmla="val 29154"/>
            </a:avLst>
          </a:prstGeom>
          <a:solidFill>
            <a:srgbClr val="FBBF24">
              <a:alpha val="14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8072549" y="1024012"/>
            <a:ext cx="5213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Grade: B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4779169" y="1479426"/>
            <a:ext cx="35719" cy="35719"/>
          </a:xfrm>
          <a:prstGeom prst="ellipse">
            <a:avLst/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6080001" y="1443707"/>
            <a:ext cx="367345" cy="107156"/>
          </a:xfrm>
          <a:prstGeom prst="roundRect">
            <a:avLst>
              <a:gd name="adj" fmla="val 35556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4879181" y="1436563"/>
            <a:ext cx="3714750" cy="168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8-step modular type scale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8BDF8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calc()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line-heights </a:t>
            </a:r>
            <a:pPr algn="l" indent="0" marL="0">
              <a:lnSpc>
                <a:spcPts val="938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(correct curve)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4779169" y="1677107"/>
            <a:ext cx="35719" cy="35719"/>
          </a:xfrm>
          <a:prstGeom prst="ellipse">
            <a:avLst/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4879181" y="1648532"/>
            <a:ext cx="658286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6-weight scale</a:t>
            </a:r>
            <a:endParaRPr lang="en-US" sz="647" dirty="0"/>
          </a:p>
        </p:txBody>
      </p:sp>
      <p:sp>
        <p:nvSpPr>
          <p:cNvPr id="54" name="Text 48"/>
          <p:cNvSpPr/>
          <p:nvPr/>
        </p:nvSpPr>
        <p:spPr>
          <a:xfrm>
            <a:off x="5463741" y="1641388"/>
            <a:ext cx="1335462" cy="127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D8B4F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(400-900, black reserved)</a:t>
            </a:r>
            <a:endParaRPr lang="en-US" sz="647" dirty="0"/>
          </a:p>
        </p:txBody>
      </p:sp>
      <p:sp>
        <p:nvSpPr>
          <p:cNvPr id="55" name="Text 49"/>
          <p:cNvSpPr/>
          <p:nvPr/>
        </p:nvSpPr>
        <p:spPr>
          <a:xfrm>
            <a:off x="4879181" y="1796207"/>
            <a:ext cx="223778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5090480" y="1796207"/>
            <a:ext cx="223778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5301779" y="1796207"/>
            <a:ext cx="233779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5519328" y="1796207"/>
            <a:ext cx="233779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5736878" y="1796207"/>
            <a:ext cx="233779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5954427" y="1796207"/>
            <a:ext cx="745852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</a:t>
            </a:r>
            <a:endParaRPr lang="en-US" sz="900" dirty="0"/>
          </a:p>
        </p:txBody>
      </p:sp>
      <p:sp>
        <p:nvSpPr>
          <p:cNvPr id="61" name="Text 55"/>
          <p:cNvSpPr/>
          <p:nvPr/>
        </p:nvSpPr>
        <p:spPr>
          <a:xfrm>
            <a:off x="4779169" y="2024807"/>
            <a:ext cx="35719" cy="35719"/>
          </a:xfrm>
          <a:prstGeom prst="ellipse">
            <a:avLst/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6"/>
          <p:cNvSpPr/>
          <p:nvPr/>
        </p:nvSpPr>
        <p:spPr>
          <a:xfrm>
            <a:off x="4879181" y="1996232"/>
            <a:ext cx="899019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5-level letter-spacing</a:t>
            </a:r>
            <a:endParaRPr lang="en-US" sz="647" dirty="0"/>
          </a:p>
        </p:txBody>
      </p:sp>
      <p:sp>
        <p:nvSpPr>
          <p:cNvPr id="63" name="Text 57"/>
          <p:cNvSpPr/>
          <p:nvPr/>
        </p:nvSpPr>
        <p:spPr>
          <a:xfrm>
            <a:off x="5719353" y="1996232"/>
            <a:ext cx="668882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(tight → widest)</a:t>
            </a:r>
            <a:endParaRPr lang="en-US" sz="647" dirty="0"/>
          </a:p>
        </p:txBody>
      </p:sp>
      <p:sp>
        <p:nvSpPr>
          <p:cNvPr id="64" name="Text 58"/>
          <p:cNvSpPr/>
          <p:nvPr/>
        </p:nvSpPr>
        <p:spPr>
          <a:xfrm>
            <a:off x="4779169" y="2215344"/>
            <a:ext cx="35719" cy="35719"/>
          </a:xfrm>
          <a:prstGeom prst="ellipse">
            <a:avLst/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9"/>
          <p:cNvSpPr/>
          <p:nvPr/>
        </p:nvSpPr>
        <p:spPr>
          <a:xfrm>
            <a:off x="5312829" y="2179625"/>
            <a:ext cx="1303958" cy="107156"/>
          </a:xfrm>
          <a:prstGeom prst="roundRect">
            <a:avLst>
              <a:gd name="adj" fmla="val 35556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0"/>
          <p:cNvSpPr/>
          <p:nvPr/>
        </p:nvSpPr>
        <p:spPr>
          <a:xfrm>
            <a:off x="4879181" y="2172481"/>
            <a:ext cx="3714750" cy="168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FDA4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CRITICAL: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8BDF8"/>
                </a:solidFill>
                <a:highlight>
                  <a:srgbClr val="38BDF8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document.fonts.size === 0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FDA4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webfonts loaded</a:t>
            </a:r>
            <a:endParaRPr lang="en-US" sz="800" dirty="0"/>
          </a:p>
        </p:txBody>
      </p:sp>
      <p:sp>
        <p:nvSpPr>
          <p:cNvPr id="67" name="Text 61"/>
          <p:cNvSpPr/>
          <p:nvPr/>
        </p:nvSpPr>
        <p:spPr>
          <a:xfrm>
            <a:off x="4779169" y="2413025"/>
            <a:ext cx="35719" cy="35719"/>
          </a:xfrm>
          <a:prstGeom prst="ellipse">
            <a:avLst/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4837053" y="2384450"/>
            <a:ext cx="565805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FCD3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30-min fix:</a:t>
            </a:r>
            <a:endParaRPr lang="en-US" sz="647" dirty="0"/>
          </a:p>
        </p:txBody>
      </p:sp>
      <p:sp>
        <p:nvSpPr>
          <p:cNvPr id="69" name="Text 63"/>
          <p:cNvSpPr/>
          <p:nvPr/>
        </p:nvSpPr>
        <p:spPr>
          <a:xfrm>
            <a:off x="5312941" y="2370877"/>
            <a:ext cx="515243" cy="120015"/>
          </a:xfrm>
          <a:prstGeom prst="roundRect">
            <a:avLst>
              <a:gd name="adj" fmla="val 31746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4"/>
          <p:cNvSpPr/>
          <p:nvPr/>
        </p:nvSpPr>
        <p:spPr>
          <a:xfrm>
            <a:off x="5276440" y="2377306"/>
            <a:ext cx="5882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next/font</a:t>
            </a:r>
            <a:endParaRPr lang="en-US" sz="800" dirty="0"/>
          </a:p>
        </p:txBody>
      </p:sp>
      <p:sp>
        <p:nvSpPr>
          <p:cNvPr id="71" name="Text 65"/>
          <p:cNvSpPr/>
          <p:nvPr/>
        </p:nvSpPr>
        <p:spPr>
          <a:xfrm>
            <a:off x="5851066" y="2384450"/>
            <a:ext cx="1740874" cy="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(Inter + Noto Sans Arabic + JetBrains Mono)</a:t>
            </a:r>
            <a:endParaRPr lang="en-US" sz="647" dirty="0"/>
          </a:p>
        </p:txBody>
      </p:sp>
      <p:sp>
        <p:nvSpPr>
          <p:cNvPr id="72" name="Text 66"/>
          <p:cNvSpPr/>
          <p:nvPr/>
        </p:nvSpPr>
        <p:spPr>
          <a:xfrm>
            <a:off x="4782741" y="2614278"/>
            <a:ext cx="3807619" cy="364220"/>
          </a:xfrm>
          <a:prstGeom prst="roundRect">
            <a:avLst>
              <a:gd name="adj" fmla="val 23537"/>
            </a:avLst>
          </a:prstGeom>
          <a:solidFill>
            <a:srgbClr val="A78BFA">
              <a:alpha val="6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7"/>
          <p:cNvSpPr/>
          <p:nvPr/>
        </p:nvSpPr>
        <p:spPr>
          <a:xfrm>
            <a:off x="5148858" y="2803922"/>
            <a:ext cx="1474291" cy="119703"/>
          </a:xfrm>
          <a:prstGeom prst="rect">
            <a:avLst/>
          </a:prstGeom>
          <a:noFill/>
          <a:ln/>
        </p:spPr>
        <p:txBody>
          <a:bodyPr wrap="square" lIns="78581" tIns="64294" rIns="78581" bIns="64294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 A-, variable fonts to A, Storybook to A+</a:t>
            </a:r>
            <a:endParaRPr lang="en-US" sz="619" dirty="0"/>
          </a:p>
        </p:txBody>
      </p:sp>
      <p:sp>
        <p:nvSpPr>
          <p:cNvPr id="74" name="Text 68"/>
          <p:cNvSpPr/>
          <p:nvPr/>
        </p:nvSpPr>
        <p:spPr>
          <a:xfrm>
            <a:off x="4864894" y="2682143"/>
            <a:ext cx="3643312" cy="94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34"/>
              </a:lnSpc>
              <a:buNone/>
            </a:pPr>
            <a:r>
              <a:rPr lang="en-US" sz="800" b="1" spc="81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TO A+</a:t>
            </a:r>
            <a:endParaRPr lang="en-US" sz="800" dirty="0"/>
          </a:p>
        </p:txBody>
      </p:sp>
      <p:sp>
        <p:nvSpPr>
          <p:cNvPr id="75" name="Text 69"/>
          <p:cNvSpPr/>
          <p:nvPr/>
        </p:nvSpPr>
        <p:spPr>
          <a:xfrm>
            <a:off x="4844223" y="2803922"/>
            <a:ext cx="40481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D8B4F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 min</a:t>
            </a:r>
            <a:endParaRPr lang="en-US" sz="800" dirty="0"/>
          </a:p>
        </p:txBody>
      </p:sp>
      <p:sp>
        <p:nvSpPr>
          <p:cNvPr id="76" name="Text 70"/>
          <p:cNvSpPr/>
          <p:nvPr/>
        </p:nvSpPr>
        <p:spPr>
          <a:xfrm>
            <a:off x="6615031" y="2803922"/>
            <a:ext cx="50072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 week)</a:t>
            </a:r>
            <a:endParaRPr lang="en-US" sz="800" dirty="0"/>
          </a:p>
        </p:txBody>
      </p:sp>
      <p:pic>
        <p:nvPicPr>
          <p:cNvPr id="7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3501889"/>
            <a:ext cx="8343900" cy="314325"/>
          </a:xfrm>
          <a:prstGeom prst="rect">
            <a:avLst/>
          </a:prstGeom>
        </p:spPr>
      </p:pic>
      <p:sp>
        <p:nvSpPr>
          <p:cNvPr id="78" name="Text 71"/>
          <p:cNvSpPr/>
          <p:nvPr/>
        </p:nvSpPr>
        <p:spPr>
          <a:xfrm>
            <a:off x="403622" y="3505460"/>
            <a:ext cx="8336756" cy="307181"/>
          </a:xfrm>
          <a:prstGeom prst="roundRect">
            <a:avLst>
              <a:gd name="adj" fmla="val 37209"/>
            </a:avLst>
          </a:prstGeom>
          <a:noFill/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2"/>
          <p:cNvSpPr/>
          <p:nvPr/>
        </p:nvSpPr>
        <p:spPr>
          <a:xfrm>
            <a:off x="550069" y="35876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06" dirty="0"/>
          </a:p>
        </p:txBody>
      </p:sp>
      <p:sp>
        <p:nvSpPr>
          <p:cNvPr id="80" name="Text 73"/>
          <p:cNvSpPr/>
          <p:nvPr/>
        </p:nvSpPr>
        <p:spPr>
          <a:xfrm>
            <a:off x="778669" y="3589400"/>
            <a:ext cx="7815263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30-minute next/font fix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the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highest-ROI fix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the entire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68-item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review menu.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301823"/>
            <a:ext cx="20251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CROSS-FEATURE IMPACT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533995"/>
            <a:ext cx="3724874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34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20+ Features Unlocked by </a:t>
            </a:r>
            <a:pPr algn="l" indent="0" marL="0">
              <a:lnSpc>
                <a:spcPts val="1856"/>
              </a:lnSpc>
              <a:buNone/>
            </a:pPr>
            <a:r>
              <a:rPr lang="en-US" sz="1688" b="1" spc="-34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Pillars</a:t>
            </a:r>
            <a:endParaRPr lang="en-US" sz="1688" dirty="0"/>
          </a:p>
        </p:txBody>
      </p:sp>
      <p:sp>
        <p:nvSpPr>
          <p:cNvPr id="7" name="Text 3"/>
          <p:cNvSpPr/>
          <p:nvPr/>
        </p:nvSpPr>
        <p:spPr>
          <a:xfrm>
            <a:off x="7352147" y="260747"/>
            <a:ext cx="1388232" cy="196453"/>
          </a:xfrm>
          <a:prstGeom prst="roundRect">
            <a:avLst>
              <a:gd name="adj" fmla="val 484849"/>
            </a:avLst>
          </a:prstGeom>
          <a:solidFill>
            <a:srgbClr val="34D399">
              <a:alpha val="14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570031" y="307181"/>
            <a:ext cx="1088194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FEATURES · 6 PILLARS</a:t>
            </a:r>
            <a:endParaRPr lang="en-US" sz="619" dirty="0"/>
          </a:p>
        </p:txBody>
      </p:sp>
      <p:sp>
        <p:nvSpPr>
          <p:cNvPr id="9" name="Text 5"/>
          <p:cNvSpPr/>
          <p:nvPr/>
        </p:nvSpPr>
        <p:spPr>
          <a:xfrm>
            <a:off x="7434300" y="31253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914" dirty="0"/>
          </a:p>
        </p:txBody>
      </p:sp>
      <p:sp>
        <p:nvSpPr>
          <p:cNvPr id="10" name="Text 6"/>
          <p:cNvSpPr/>
          <p:nvPr/>
        </p:nvSpPr>
        <p:spPr>
          <a:xfrm>
            <a:off x="8362876" y="517922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15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82068" y="860822"/>
            <a:ext cx="60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PILLARS: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913842" y="885602"/>
            <a:ext cx="57150" cy="57150"/>
          </a:xfrm>
          <a:prstGeom prst="roundRect">
            <a:avLst>
              <a:gd name="adj" fmla="val 33333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913842" y="855464"/>
            <a:ext cx="534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 Routing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1469603" y="885602"/>
            <a:ext cx="57150" cy="57150"/>
          </a:xfrm>
          <a:prstGeom prst="roundRect">
            <a:avLst>
              <a:gd name="adj" fmla="val 33333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462535" y="855464"/>
            <a:ext cx="4587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#8 Auth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916981" y="885602"/>
            <a:ext cx="57150" cy="57150"/>
          </a:xfrm>
          <a:prstGeom prst="roundRect">
            <a:avLst>
              <a:gd name="adj" fmla="val 33333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894743" y="855464"/>
            <a:ext cx="5211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 State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389361" y="885602"/>
            <a:ext cx="57150" cy="57150"/>
          </a:xfrm>
          <a:prstGeom prst="roundRect">
            <a:avLst>
              <a:gd name="adj" fmla="val 33333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389361" y="855464"/>
            <a:ext cx="5536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#36 Copilot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2961754" y="885602"/>
            <a:ext cx="57150" cy="57150"/>
          </a:xfrm>
          <a:prstGeom prst="roundRect">
            <a:avLst>
              <a:gd name="adj" fmla="val 33333"/>
            </a:avLst>
          </a:prstGeom>
          <a:solidFill>
            <a:srgbClr val="C4B5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961754" y="855464"/>
            <a:ext cx="7378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#54 Typography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3691310" y="885602"/>
            <a:ext cx="57150" cy="57150"/>
          </a:xfrm>
          <a:prstGeom prst="roundRect">
            <a:avLst>
              <a:gd name="adj" fmla="val 33333"/>
            </a:avLst>
          </a:prstGeom>
          <a:solidFill>
            <a:srgbClr val="67E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691310" y="855464"/>
            <a:ext cx="5024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combo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109331" y="885602"/>
            <a:ext cx="57150" cy="57150"/>
          </a:xfrm>
          <a:prstGeom prst="roundRect">
            <a:avLst>
              <a:gd name="adj" fmla="val 3333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109331" y="855464"/>
            <a:ext cx="4634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independent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03622" y="1028700"/>
            <a:ext cx="1604442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92919" y="1096566"/>
            <a:ext cx="1564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#4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33561" y="1103709"/>
            <a:ext cx="129234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SEO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83329" y="1243013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B+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11907" y="124301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85688" y="1243013"/>
            <a:ext cx="1240222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72403" y="1338239"/>
            <a:ext cx="553931" cy="156020"/>
          </a:xfrm>
          <a:prstGeom prst="roundRect">
            <a:avLst>
              <a:gd name="adj" fmla="val 24420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26473" y="1346597"/>
            <a:ext cx="64579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 Routing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2086645" y="1028700"/>
            <a:ext cx="1604442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2175942" y="1096566"/>
            <a:ext cx="1564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316584" y="1103709"/>
            <a:ext cx="129234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PWA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175942" y="124301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2249723" y="124301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2323505" y="1243013"/>
            <a:ext cx="1285429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2164969" y="1338239"/>
            <a:ext cx="204558" cy="156020"/>
          </a:xfrm>
          <a:prstGeom prst="roundRect">
            <a:avLst>
              <a:gd name="adj" fmla="val 24420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2175942" y="1346597"/>
            <a:ext cx="1826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3769668" y="1028700"/>
            <a:ext cx="1604553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858964" y="1096566"/>
            <a:ext cx="1564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#6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3999607" y="1103709"/>
            <a:ext cx="1292461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i18n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3849375" y="1243013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3977953" y="124301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051734" y="1243013"/>
            <a:ext cx="124033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B+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3836104" y="1338239"/>
            <a:ext cx="723707" cy="156020"/>
          </a:xfrm>
          <a:prstGeom prst="roundRect">
            <a:avLst>
              <a:gd name="adj" fmla="val 24420"/>
            </a:avLst>
          </a:prstGeom>
          <a:solidFill>
            <a:srgbClr val="C4B5FD">
              <a:alpha val="10000"/>
            </a:srgbClr>
          </a:solidFill>
          <a:ln w="7144">
            <a:solidFill>
              <a:srgbClr val="C4B5F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3858964" y="1346597"/>
            <a:ext cx="67798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#54 Typography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5452802" y="1028700"/>
            <a:ext cx="1604442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5542099" y="1096566"/>
            <a:ext cx="1564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#9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5682742" y="1103709"/>
            <a:ext cx="129234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5532509" y="1243013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5661087" y="124301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5734869" y="1243013"/>
            <a:ext cx="1240222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5526539" y="1338239"/>
            <a:ext cx="420119" cy="156020"/>
          </a:xfrm>
          <a:prstGeom prst="roundRect">
            <a:avLst>
              <a:gd name="adj" fmla="val 24420"/>
            </a:avLst>
          </a:prstGeom>
          <a:solidFill>
            <a:srgbClr val="F87171">
              <a:alpha val="10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5507216" y="1346597"/>
            <a:ext cx="45876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#8 Auth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7135825" y="1028700"/>
            <a:ext cx="1604553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7223373" y="1096566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#18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7414654" y="1103709"/>
            <a:ext cx="1243571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 Detail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7215532" y="1243013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B+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7344110" y="124301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7417891" y="1243013"/>
            <a:ext cx="124033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7214149" y="1338239"/>
            <a:ext cx="204558" cy="156020"/>
          </a:xfrm>
          <a:prstGeom prst="roundRect">
            <a:avLst>
              <a:gd name="adj" fmla="val 24420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7225122" y="1346597"/>
            <a:ext cx="1826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403622" y="1632347"/>
            <a:ext cx="1604442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491169" y="1700213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#22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682451" y="1707356"/>
            <a:ext cx="124345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Interactions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483329" y="1846659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611907" y="1846659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71" name="Text 67"/>
          <p:cNvSpPr/>
          <p:nvPr/>
        </p:nvSpPr>
        <p:spPr>
          <a:xfrm>
            <a:off x="685688" y="1846659"/>
            <a:ext cx="1240222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800" dirty="0"/>
          </a:p>
        </p:txBody>
      </p:sp>
      <p:sp>
        <p:nvSpPr>
          <p:cNvPr id="72" name="Text 68"/>
          <p:cNvSpPr/>
          <p:nvPr/>
        </p:nvSpPr>
        <p:spPr>
          <a:xfrm>
            <a:off x="475707" y="1941886"/>
            <a:ext cx="464723" cy="156020"/>
          </a:xfrm>
          <a:prstGeom prst="roundRect">
            <a:avLst>
              <a:gd name="adj" fmla="val 24420"/>
            </a:avLst>
          </a:prstGeom>
          <a:solidFill>
            <a:srgbClr val="FBBF24">
              <a:alpha val="10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9"/>
          <p:cNvSpPr/>
          <p:nvPr/>
        </p:nvSpPr>
        <p:spPr>
          <a:xfrm>
            <a:off x="447515" y="1950244"/>
            <a:ext cx="5211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 State</a:t>
            </a:r>
            <a:endParaRPr lang="en-US" sz="800" dirty="0"/>
          </a:p>
        </p:txBody>
      </p:sp>
      <p:sp>
        <p:nvSpPr>
          <p:cNvPr id="74" name="Text 70"/>
          <p:cNvSpPr/>
          <p:nvPr/>
        </p:nvSpPr>
        <p:spPr>
          <a:xfrm>
            <a:off x="2086645" y="1632347"/>
            <a:ext cx="1604442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2174192" y="1700213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#35</a:t>
            </a:r>
            <a:endParaRPr lang="en-US" sz="800" dirty="0"/>
          </a:p>
        </p:txBody>
      </p:sp>
      <p:sp>
        <p:nvSpPr>
          <p:cNvPr id="76" name="Text 72"/>
          <p:cNvSpPr/>
          <p:nvPr/>
        </p:nvSpPr>
        <p:spPr>
          <a:xfrm>
            <a:off x="2365474" y="1707356"/>
            <a:ext cx="124345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Pharmacies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2175942" y="1846659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78" name="Text 74"/>
          <p:cNvSpPr/>
          <p:nvPr/>
        </p:nvSpPr>
        <p:spPr>
          <a:xfrm>
            <a:off x="2249723" y="1846659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79" name="Text 75"/>
          <p:cNvSpPr/>
          <p:nvPr/>
        </p:nvSpPr>
        <p:spPr>
          <a:xfrm>
            <a:off x="2323505" y="1846659"/>
            <a:ext cx="1285429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B+</a:t>
            </a:r>
            <a:endParaRPr lang="en-US" sz="800" dirty="0"/>
          </a:p>
        </p:txBody>
      </p:sp>
      <p:sp>
        <p:nvSpPr>
          <p:cNvPr id="80" name="Text 76"/>
          <p:cNvSpPr/>
          <p:nvPr/>
        </p:nvSpPr>
        <p:spPr>
          <a:xfrm>
            <a:off x="2164969" y="1941886"/>
            <a:ext cx="204558" cy="156020"/>
          </a:xfrm>
          <a:prstGeom prst="roundRect">
            <a:avLst>
              <a:gd name="adj" fmla="val 24420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7"/>
          <p:cNvSpPr/>
          <p:nvPr/>
        </p:nvSpPr>
        <p:spPr>
          <a:xfrm>
            <a:off x="2175942" y="1950244"/>
            <a:ext cx="1826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3769668" y="1632347"/>
            <a:ext cx="1604553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79"/>
          <p:cNvSpPr/>
          <p:nvPr/>
        </p:nvSpPr>
        <p:spPr>
          <a:xfrm>
            <a:off x="3857215" y="1700213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#37</a:t>
            </a:r>
            <a:endParaRPr lang="en-US" sz="800" dirty="0"/>
          </a:p>
        </p:txBody>
      </p:sp>
      <p:sp>
        <p:nvSpPr>
          <p:cNvPr id="84" name="Text 80"/>
          <p:cNvSpPr/>
          <p:nvPr/>
        </p:nvSpPr>
        <p:spPr>
          <a:xfrm>
            <a:off x="4048497" y="1707356"/>
            <a:ext cx="1243571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 Modes</a:t>
            </a:r>
            <a:endParaRPr lang="en-US" sz="800" dirty="0"/>
          </a:p>
        </p:txBody>
      </p:sp>
      <p:sp>
        <p:nvSpPr>
          <p:cNvPr id="85" name="Text 81"/>
          <p:cNvSpPr/>
          <p:nvPr/>
        </p:nvSpPr>
        <p:spPr>
          <a:xfrm>
            <a:off x="3858964" y="1846659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86" name="Text 82"/>
          <p:cNvSpPr/>
          <p:nvPr/>
        </p:nvSpPr>
        <p:spPr>
          <a:xfrm>
            <a:off x="3932746" y="1846659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4006528" y="1846659"/>
            <a:ext cx="12855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800" dirty="0"/>
          </a:p>
        </p:txBody>
      </p:sp>
      <p:sp>
        <p:nvSpPr>
          <p:cNvPr id="88" name="Text 84"/>
          <p:cNvSpPr/>
          <p:nvPr/>
        </p:nvSpPr>
        <p:spPr>
          <a:xfrm>
            <a:off x="3847992" y="1941886"/>
            <a:ext cx="245858" cy="156020"/>
          </a:xfrm>
          <a:prstGeom prst="roundRect">
            <a:avLst>
              <a:gd name="adj" fmla="val 24420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5"/>
          <p:cNvSpPr/>
          <p:nvPr/>
        </p:nvSpPr>
        <p:spPr>
          <a:xfrm>
            <a:off x="3851835" y="1950244"/>
            <a:ext cx="23817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#36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5452802" y="1632347"/>
            <a:ext cx="1604442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7"/>
          <p:cNvSpPr/>
          <p:nvPr/>
        </p:nvSpPr>
        <p:spPr>
          <a:xfrm>
            <a:off x="5540350" y="1700213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#38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5731632" y="1707356"/>
            <a:ext cx="124345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Voice Dictation</a:t>
            </a:r>
            <a:endParaRPr lang="en-US" sz="800" dirty="0"/>
          </a:p>
        </p:txBody>
      </p:sp>
      <p:sp>
        <p:nvSpPr>
          <p:cNvPr id="93" name="Text 89"/>
          <p:cNvSpPr/>
          <p:nvPr/>
        </p:nvSpPr>
        <p:spPr>
          <a:xfrm>
            <a:off x="5532509" y="1846659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</a:t>
            </a:r>
            <a:endParaRPr lang="en-US" sz="800" dirty="0"/>
          </a:p>
        </p:txBody>
      </p:sp>
      <p:sp>
        <p:nvSpPr>
          <p:cNvPr id="94" name="Text 90"/>
          <p:cNvSpPr/>
          <p:nvPr/>
        </p:nvSpPr>
        <p:spPr>
          <a:xfrm>
            <a:off x="5661087" y="1846659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95" name="Text 91"/>
          <p:cNvSpPr/>
          <p:nvPr/>
        </p:nvSpPr>
        <p:spPr>
          <a:xfrm>
            <a:off x="5734869" y="1846659"/>
            <a:ext cx="1240222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B+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531126" y="1941886"/>
            <a:ext cx="245858" cy="156020"/>
          </a:xfrm>
          <a:prstGeom prst="roundRect">
            <a:avLst>
              <a:gd name="adj" fmla="val 24420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3"/>
          <p:cNvSpPr/>
          <p:nvPr/>
        </p:nvSpPr>
        <p:spPr>
          <a:xfrm>
            <a:off x="5534970" y="1950244"/>
            <a:ext cx="23817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#36</a:t>
            </a:r>
            <a:endParaRPr lang="en-US" sz="800" dirty="0"/>
          </a:p>
        </p:txBody>
      </p:sp>
      <p:sp>
        <p:nvSpPr>
          <p:cNvPr id="98" name="Text 94"/>
          <p:cNvSpPr/>
          <p:nvPr/>
        </p:nvSpPr>
        <p:spPr>
          <a:xfrm>
            <a:off x="7135825" y="1632347"/>
            <a:ext cx="1604553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5"/>
          <p:cNvSpPr/>
          <p:nvPr/>
        </p:nvSpPr>
        <p:spPr>
          <a:xfrm>
            <a:off x="7223373" y="1700213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#39</a:t>
            </a:r>
            <a:endParaRPr lang="en-US" sz="800" dirty="0"/>
          </a:p>
        </p:txBody>
      </p:sp>
      <p:sp>
        <p:nvSpPr>
          <p:cNvPr id="100" name="Text 96"/>
          <p:cNvSpPr/>
          <p:nvPr/>
        </p:nvSpPr>
        <p:spPr>
          <a:xfrm>
            <a:off x="7414654" y="1707356"/>
            <a:ext cx="1243571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Suggested Prompts</a:t>
            </a:r>
            <a:endParaRPr lang="en-US" sz="800" dirty="0"/>
          </a:p>
        </p:txBody>
      </p:sp>
      <p:sp>
        <p:nvSpPr>
          <p:cNvPr id="101" name="Text 97"/>
          <p:cNvSpPr/>
          <p:nvPr/>
        </p:nvSpPr>
        <p:spPr>
          <a:xfrm>
            <a:off x="7215532" y="1846659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</a:t>
            </a:r>
            <a:endParaRPr lang="en-US" sz="800" dirty="0"/>
          </a:p>
        </p:txBody>
      </p:sp>
      <p:sp>
        <p:nvSpPr>
          <p:cNvPr id="102" name="Text 98"/>
          <p:cNvSpPr/>
          <p:nvPr/>
        </p:nvSpPr>
        <p:spPr>
          <a:xfrm>
            <a:off x="7344110" y="1846659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03" name="Text 99"/>
          <p:cNvSpPr/>
          <p:nvPr/>
        </p:nvSpPr>
        <p:spPr>
          <a:xfrm>
            <a:off x="7417891" y="1846659"/>
            <a:ext cx="124033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800" dirty="0"/>
          </a:p>
        </p:txBody>
      </p:sp>
      <p:sp>
        <p:nvSpPr>
          <p:cNvPr id="104" name="Text 100"/>
          <p:cNvSpPr/>
          <p:nvPr/>
        </p:nvSpPr>
        <p:spPr>
          <a:xfrm>
            <a:off x="7214149" y="1941886"/>
            <a:ext cx="245858" cy="156020"/>
          </a:xfrm>
          <a:prstGeom prst="roundRect">
            <a:avLst>
              <a:gd name="adj" fmla="val 24420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1"/>
          <p:cNvSpPr/>
          <p:nvPr/>
        </p:nvSpPr>
        <p:spPr>
          <a:xfrm>
            <a:off x="7217992" y="1950244"/>
            <a:ext cx="23817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#36</a:t>
            </a:r>
            <a:endParaRPr lang="en-US" sz="800" dirty="0"/>
          </a:p>
        </p:txBody>
      </p:sp>
      <p:sp>
        <p:nvSpPr>
          <p:cNvPr id="106" name="Text 102"/>
          <p:cNvSpPr/>
          <p:nvPr/>
        </p:nvSpPr>
        <p:spPr>
          <a:xfrm>
            <a:off x="403622" y="2235994"/>
            <a:ext cx="1604442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3"/>
          <p:cNvSpPr/>
          <p:nvPr/>
        </p:nvSpPr>
        <p:spPr>
          <a:xfrm>
            <a:off x="491169" y="2303859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#40</a:t>
            </a:r>
            <a:endParaRPr lang="en-US" sz="800" dirty="0"/>
          </a:p>
        </p:txBody>
      </p:sp>
      <p:sp>
        <p:nvSpPr>
          <p:cNvPr id="108" name="Text 104"/>
          <p:cNvSpPr/>
          <p:nvPr/>
        </p:nvSpPr>
        <p:spPr>
          <a:xfrm>
            <a:off x="682451" y="2311003"/>
            <a:ext cx="124345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 History</a:t>
            </a:r>
            <a:endParaRPr lang="en-US" sz="800" dirty="0"/>
          </a:p>
        </p:txBody>
      </p:sp>
      <p:sp>
        <p:nvSpPr>
          <p:cNvPr id="109" name="Text 105"/>
          <p:cNvSpPr/>
          <p:nvPr/>
        </p:nvSpPr>
        <p:spPr>
          <a:xfrm>
            <a:off x="483329" y="2450306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D+</a:t>
            </a:r>
            <a:endParaRPr lang="en-US" sz="800" dirty="0"/>
          </a:p>
        </p:txBody>
      </p:sp>
      <p:sp>
        <p:nvSpPr>
          <p:cNvPr id="110" name="Text 106"/>
          <p:cNvSpPr/>
          <p:nvPr/>
        </p:nvSpPr>
        <p:spPr>
          <a:xfrm>
            <a:off x="611907" y="2450306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11" name="Text 107"/>
          <p:cNvSpPr/>
          <p:nvPr/>
        </p:nvSpPr>
        <p:spPr>
          <a:xfrm>
            <a:off x="685688" y="2450306"/>
            <a:ext cx="1240222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800" dirty="0"/>
          </a:p>
        </p:txBody>
      </p:sp>
      <p:sp>
        <p:nvSpPr>
          <p:cNvPr id="112" name="Text 108"/>
          <p:cNvSpPr/>
          <p:nvPr/>
        </p:nvSpPr>
        <p:spPr>
          <a:xfrm>
            <a:off x="477359" y="2545532"/>
            <a:ext cx="420119" cy="156020"/>
          </a:xfrm>
          <a:prstGeom prst="roundRect">
            <a:avLst>
              <a:gd name="adj" fmla="val 24420"/>
            </a:avLst>
          </a:prstGeom>
          <a:solidFill>
            <a:srgbClr val="67E8F9">
              <a:alpha val="10000"/>
            </a:srgbClr>
          </a:solidFill>
          <a:ln w="7144">
            <a:solidFill>
              <a:srgbClr val="67E8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09"/>
          <p:cNvSpPr/>
          <p:nvPr/>
        </p:nvSpPr>
        <p:spPr>
          <a:xfrm>
            <a:off x="480815" y="2553891"/>
            <a:ext cx="41320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 + #8</a:t>
            </a:r>
            <a:endParaRPr lang="en-US" sz="800" dirty="0"/>
          </a:p>
        </p:txBody>
      </p:sp>
      <p:sp>
        <p:nvSpPr>
          <p:cNvPr id="114" name="Text 110"/>
          <p:cNvSpPr/>
          <p:nvPr/>
        </p:nvSpPr>
        <p:spPr>
          <a:xfrm>
            <a:off x="2086645" y="2235994"/>
            <a:ext cx="1604442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1"/>
          <p:cNvSpPr/>
          <p:nvPr/>
        </p:nvSpPr>
        <p:spPr>
          <a:xfrm>
            <a:off x="2174192" y="2303859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#41</a:t>
            </a:r>
            <a:endParaRPr lang="en-US" sz="800" dirty="0"/>
          </a:p>
        </p:txBody>
      </p:sp>
      <p:sp>
        <p:nvSpPr>
          <p:cNvPr id="116" name="Text 112"/>
          <p:cNvSpPr/>
          <p:nvPr/>
        </p:nvSpPr>
        <p:spPr>
          <a:xfrm>
            <a:off x="2365474" y="2311003"/>
            <a:ext cx="124345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</a:t>
            </a:r>
            <a:endParaRPr lang="en-US" sz="800" dirty="0"/>
          </a:p>
        </p:txBody>
      </p:sp>
      <p:sp>
        <p:nvSpPr>
          <p:cNvPr id="117" name="Text 113"/>
          <p:cNvSpPr/>
          <p:nvPr/>
        </p:nvSpPr>
        <p:spPr>
          <a:xfrm>
            <a:off x="2166352" y="2450306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</a:t>
            </a:r>
            <a:endParaRPr lang="en-US" sz="800" dirty="0"/>
          </a:p>
        </p:txBody>
      </p:sp>
      <p:sp>
        <p:nvSpPr>
          <p:cNvPr id="118" name="Text 114"/>
          <p:cNvSpPr/>
          <p:nvPr/>
        </p:nvSpPr>
        <p:spPr>
          <a:xfrm>
            <a:off x="2294930" y="2450306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19" name="Text 115"/>
          <p:cNvSpPr/>
          <p:nvPr/>
        </p:nvSpPr>
        <p:spPr>
          <a:xfrm>
            <a:off x="2368711" y="2450306"/>
            <a:ext cx="1240222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800" dirty="0"/>
          </a:p>
        </p:txBody>
      </p:sp>
      <p:sp>
        <p:nvSpPr>
          <p:cNvPr id="120" name="Text 116"/>
          <p:cNvSpPr/>
          <p:nvPr/>
        </p:nvSpPr>
        <p:spPr>
          <a:xfrm>
            <a:off x="2164969" y="2545532"/>
            <a:ext cx="245858" cy="156020"/>
          </a:xfrm>
          <a:prstGeom prst="roundRect">
            <a:avLst>
              <a:gd name="adj" fmla="val 24420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Text 117"/>
          <p:cNvSpPr/>
          <p:nvPr/>
        </p:nvSpPr>
        <p:spPr>
          <a:xfrm>
            <a:off x="2168812" y="2553891"/>
            <a:ext cx="23817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#36</a:t>
            </a:r>
            <a:endParaRPr lang="en-US" sz="800" dirty="0"/>
          </a:p>
        </p:txBody>
      </p:sp>
      <p:sp>
        <p:nvSpPr>
          <p:cNvPr id="122" name="Text 118"/>
          <p:cNvSpPr/>
          <p:nvPr/>
        </p:nvSpPr>
        <p:spPr>
          <a:xfrm>
            <a:off x="3769668" y="2235994"/>
            <a:ext cx="1604553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Text 119"/>
          <p:cNvSpPr/>
          <p:nvPr/>
        </p:nvSpPr>
        <p:spPr>
          <a:xfrm>
            <a:off x="3857215" y="2303859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#43</a:t>
            </a:r>
            <a:endParaRPr lang="en-US" sz="800" dirty="0"/>
          </a:p>
        </p:txBody>
      </p:sp>
      <p:sp>
        <p:nvSpPr>
          <p:cNvPr id="124" name="Text 120"/>
          <p:cNvSpPr/>
          <p:nvPr/>
        </p:nvSpPr>
        <p:spPr>
          <a:xfrm>
            <a:off x="4048497" y="2311003"/>
            <a:ext cx="1243571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125" name="Text 121"/>
          <p:cNvSpPr/>
          <p:nvPr/>
        </p:nvSpPr>
        <p:spPr>
          <a:xfrm>
            <a:off x="3858964" y="2450306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126" name="Text 122"/>
          <p:cNvSpPr/>
          <p:nvPr/>
        </p:nvSpPr>
        <p:spPr>
          <a:xfrm>
            <a:off x="3932746" y="2450306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27" name="Text 123"/>
          <p:cNvSpPr/>
          <p:nvPr/>
        </p:nvSpPr>
        <p:spPr>
          <a:xfrm>
            <a:off x="4006528" y="2450306"/>
            <a:ext cx="12855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800" dirty="0"/>
          </a:p>
        </p:txBody>
      </p:sp>
      <p:sp>
        <p:nvSpPr>
          <p:cNvPr id="128" name="Text 124"/>
          <p:cNvSpPr/>
          <p:nvPr/>
        </p:nvSpPr>
        <p:spPr>
          <a:xfrm>
            <a:off x="3847992" y="2545532"/>
            <a:ext cx="204558" cy="156020"/>
          </a:xfrm>
          <a:prstGeom prst="roundRect">
            <a:avLst>
              <a:gd name="adj" fmla="val 24420"/>
            </a:avLst>
          </a:prstGeom>
          <a:solidFill>
            <a:srgbClr val="F87171">
              <a:alpha val="10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Text 125"/>
          <p:cNvSpPr/>
          <p:nvPr/>
        </p:nvSpPr>
        <p:spPr>
          <a:xfrm>
            <a:off x="3858964" y="2553891"/>
            <a:ext cx="1826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#8</a:t>
            </a:r>
            <a:endParaRPr lang="en-US" sz="800" dirty="0"/>
          </a:p>
        </p:txBody>
      </p:sp>
      <p:sp>
        <p:nvSpPr>
          <p:cNvPr id="130" name="Text 126"/>
          <p:cNvSpPr/>
          <p:nvPr/>
        </p:nvSpPr>
        <p:spPr>
          <a:xfrm>
            <a:off x="5452802" y="2235994"/>
            <a:ext cx="1604442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Text 127"/>
          <p:cNvSpPr/>
          <p:nvPr/>
        </p:nvSpPr>
        <p:spPr>
          <a:xfrm>
            <a:off x="5540350" y="2303859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#44</a:t>
            </a:r>
            <a:endParaRPr lang="en-US" sz="800" dirty="0"/>
          </a:p>
        </p:txBody>
      </p:sp>
      <p:sp>
        <p:nvSpPr>
          <p:cNvPr id="132" name="Text 128"/>
          <p:cNvSpPr/>
          <p:nvPr/>
        </p:nvSpPr>
        <p:spPr>
          <a:xfrm>
            <a:off x="5731632" y="2311003"/>
            <a:ext cx="124345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Recently Viewed</a:t>
            </a:r>
            <a:endParaRPr lang="en-US" sz="800" dirty="0"/>
          </a:p>
        </p:txBody>
      </p:sp>
      <p:sp>
        <p:nvSpPr>
          <p:cNvPr id="133" name="Text 129"/>
          <p:cNvSpPr/>
          <p:nvPr/>
        </p:nvSpPr>
        <p:spPr>
          <a:xfrm>
            <a:off x="5532509" y="2450306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B+</a:t>
            </a:r>
            <a:endParaRPr lang="en-US" sz="800" dirty="0"/>
          </a:p>
        </p:txBody>
      </p:sp>
      <p:sp>
        <p:nvSpPr>
          <p:cNvPr id="134" name="Text 130"/>
          <p:cNvSpPr/>
          <p:nvPr/>
        </p:nvSpPr>
        <p:spPr>
          <a:xfrm>
            <a:off x="5661087" y="2450306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35" name="Text 131"/>
          <p:cNvSpPr/>
          <p:nvPr/>
        </p:nvSpPr>
        <p:spPr>
          <a:xfrm>
            <a:off x="5734869" y="2450306"/>
            <a:ext cx="1240222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5526539" y="2545532"/>
            <a:ext cx="420119" cy="156020"/>
          </a:xfrm>
          <a:prstGeom prst="roundRect">
            <a:avLst>
              <a:gd name="adj" fmla="val 24420"/>
            </a:avLst>
          </a:prstGeom>
          <a:solidFill>
            <a:srgbClr val="67E8F9">
              <a:alpha val="10000"/>
            </a:srgbClr>
          </a:solidFill>
          <a:ln w="7144">
            <a:solidFill>
              <a:srgbClr val="67E8F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Text 133"/>
          <p:cNvSpPr/>
          <p:nvPr/>
        </p:nvSpPr>
        <p:spPr>
          <a:xfrm>
            <a:off x="5529995" y="2553891"/>
            <a:ext cx="41320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 + #8</a:t>
            </a:r>
            <a:endParaRPr lang="en-US" sz="800" dirty="0"/>
          </a:p>
        </p:txBody>
      </p:sp>
      <p:sp>
        <p:nvSpPr>
          <p:cNvPr id="138" name="Text 134"/>
          <p:cNvSpPr/>
          <p:nvPr/>
        </p:nvSpPr>
        <p:spPr>
          <a:xfrm>
            <a:off x="7135825" y="2235994"/>
            <a:ext cx="1604553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Text 135"/>
          <p:cNvSpPr/>
          <p:nvPr/>
        </p:nvSpPr>
        <p:spPr>
          <a:xfrm>
            <a:off x="7223373" y="2303859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#48</a:t>
            </a:r>
            <a:endParaRPr lang="en-US" sz="800" dirty="0"/>
          </a:p>
        </p:txBody>
      </p:sp>
      <p:sp>
        <p:nvSpPr>
          <p:cNvPr id="140" name="Text 136"/>
          <p:cNvSpPr/>
          <p:nvPr/>
        </p:nvSpPr>
        <p:spPr>
          <a:xfrm>
            <a:off x="7414654" y="2311003"/>
            <a:ext cx="1243571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Favorites</a:t>
            </a:r>
            <a:endParaRPr lang="en-US" sz="800" dirty="0"/>
          </a:p>
        </p:txBody>
      </p:sp>
      <p:sp>
        <p:nvSpPr>
          <p:cNvPr id="141" name="Text 137"/>
          <p:cNvSpPr/>
          <p:nvPr/>
        </p:nvSpPr>
        <p:spPr>
          <a:xfrm>
            <a:off x="7215532" y="2450306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800" dirty="0"/>
          </a:p>
        </p:txBody>
      </p:sp>
      <p:sp>
        <p:nvSpPr>
          <p:cNvPr id="142" name="Text 138"/>
          <p:cNvSpPr/>
          <p:nvPr/>
        </p:nvSpPr>
        <p:spPr>
          <a:xfrm>
            <a:off x="7344110" y="2450306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43" name="Text 139"/>
          <p:cNvSpPr/>
          <p:nvPr/>
        </p:nvSpPr>
        <p:spPr>
          <a:xfrm>
            <a:off x="7417891" y="2450306"/>
            <a:ext cx="124033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144" name="Text 140"/>
          <p:cNvSpPr/>
          <p:nvPr/>
        </p:nvSpPr>
        <p:spPr>
          <a:xfrm>
            <a:off x="7214149" y="2545532"/>
            <a:ext cx="204558" cy="156020"/>
          </a:xfrm>
          <a:prstGeom prst="roundRect">
            <a:avLst>
              <a:gd name="adj" fmla="val 24420"/>
            </a:avLst>
          </a:prstGeom>
          <a:solidFill>
            <a:srgbClr val="F87171">
              <a:alpha val="10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Text 141"/>
          <p:cNvSpPr/>
          <p:nvPr/>
        </p:nvSpPr>
        <p:spPr>
          <a:xfrm>
            <a:off x="7225122" y="2553891"/>
            <a:ext cx="1826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#8</a:t>
            </a:r>
            <a:endParaRPr lang="en-US" sz="800" dirty="0"/>
          </a:p>
        </p:txBody>
      </p:sp>
      <p:sp>
        <p:nvSpPr>
          <p:cNvPr id="146" name="Text 142"/>
          <p:cNvSpPr/>
          <p:nvPr/>
        </p:nvSpPr>
        <p:spPr>
          <a:xfrm>
            <a:off x="403622" y="2839641"/>
            <a:ext cx="1604442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7" name="Text 143"/>
          <p:cNvSpPr/>
          <p:nvPr/>
        </p:nvSpPr>
        <p:spPr>
          <a:xfrm>
            <a:off x="491169" y="2907506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#49</a:t>
            </a:r>
            <a:endParaRPr lang="en-US" sz="800" dirty="0"/>
          </a:p>
        </p:txBody>
      </p:sp>
      <p:sp>
        <p:nvSpPr>
          <p:cNvPr id="148" name="Text 144"/>
          <p:cNvSpPr/>
          <p:nvPr/>
        </p:nvSpPr>
        <p:spPr>
          <a:xfrm>
            <a:off x="682451" y="2914650"/>
            <a:ext cx="124345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Sharing</a:t>
            </a:r>
            <a:endParaRPr lang="en-US" sz="800" dirty="0"/>
          </a:p>
        </p:txBody>
      </p:sp>
      <p:sp>
        <p:nvSpPr>
          <p:cNvPr id="149" name="Text 145"/>
          <p:cNvSpPr/>
          <p:nvPr/>
        </p:nvSpPr>
        <p:spPr>
          <a:xfrm>
            <a:off x="483329" y="3053953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B+</a:t>
            </a:r>
            <a:endParaRPr lang="en-US" sz="800" dirty="0"/>
          </a:p>
        </p:txBody>
      </p:sp>
      <p:sp>
        <p:nvSpPr>
          <p:cNvPr id="150" name="Text 146"/>
          <p:cNvSpPr/>
          <p:nvPr/>
        </p:nvSpPr>
        <p:spPr>
          <a:xfrm>
            <a:off x="611907" y="305395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51" name="Text 147"/>
          <p:cNvSpPr/>
          <p:nvPr/>
        </p:nvSpPr>
        <p:spPr>
          <a:xfrm>
            <a:off x="685688" y="3053953"/>
            <a:ext cx="1240222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152" name="Text 148"/>
          <p:cNvSpPr/>
          <p:nvPr/>
        </p:nvSpPr>
        <p:spPr>
          <a:xfrm>
            <a:off x="481946" y="3149179"/>
            <a:ext cx="204558" cy="156020"/>
          </a:xfrm>
          <a:prstGeom prst="roundRect">
            <a:avLst>
              <a:gd name="adj" fmla="val 24420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3" name="Text 149"/>
          <p:cNvSpPr/>
          <p:nvPr/>
        </p:nvSpPr>
        <p:spPr>
          <a:xfrm>
            <a:off x="492919" y="3157538"/>
            <a:ext cx="1826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</a:t>
            </a:r>
            <a:endParaRPr lang="en-US" sz="800" dirty="0"/>
          </a:p>
        </p:txBody>
      </p:sp>
      <p:pic>
        <p:nvPicPr>
          <p:cNvPr id="1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73" y="2836069"/>
            <a:ext cx="1611585" cy="532209"/>
          </a:xfrm>
          <a:prstGeom prst="rect">
            <a:avLst/>
          </a:prstGeom>
        </p:spPr>
      </p:pic>
      <p:sp>
        <p:nvSpPr>
          <p:cNvPr id="155" name="Text 150"/>
          <p:cNvSpPr/>
          <p:nvPr/>
        </p:nvSpPr>
        <p:spPr>
          <a:xfrm>
            <a:off x="2086645" y="2839641"/>
            <a:ext cx="1604442" cy="525066"/>
          </a:xfrm>
          <a:prstGeom prst="roundRect">
            <a:avLst>
              <a:gd name="adj" fmla="val 18141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Text 151"/>
          <p:cNvSpPr/>
          <p:nvPr/>
        </p:nvSpPr>
        <p:spPr>
          <a:xfrm>
            <a:off x="2174192" y="2907506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#61</a:t>
            </a:r>
            <a:endParaRPr lang="en-US" sz="800" dirty="0"/>
          </a:p>
        </p:txBody>
      </p:sp>
      <p:sp>
        <p:nvSpPr>
          <p:cNvPr id="157" name="Text 152"/>
          <p:cNvSpPr/>
          <p:nvPr/>
        </p:nvSpPr>
        <p:spPr>
          <a:xfrm>
            <a:off x="2365474" y="2914650"/>
            <a:ext cx="124345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Regions</a:t>
            </a:r>
            <a:endParaRPr lang="en-US" sz="800" dirty="0"/>
          </a:p>
        </p:txBody>
      </p:sp>
      <p:sp>
        <p:nvSpPr>
          <p:cNvPr id="158" name="Text 153"/>
          <p:cNvSpPr/>
          <p:nvPr/>
        </p:nvSpPr>
        <p:spPr>
          <a:xfrm>
            <a:off x="2166352" y="3053953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</a:t>
            </a:r>
            <a:endParaRPr lang="en-US" sz="800" dirty="0"/>
          </a:p>
        </p:txBody>
      </p:sp>
      <p:sp>
        <p:nvSpPr>
          <p:cNvPr id="159" name="Text 154"/>
          <p:cNvSpPr/>
          <p:nvPr/>
        </p:nvSpPr>
        <p:spPr>
          <a:xfrm>
            <a:off x="2294930" y="305395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60" name="Text 155"/>
          <p:cNvSpPr/>
          <p:nvPr/>
        </p:nvSpPr>
        <p:spPr>
          <a:xfrm>
            <a:off x="2368711" y="3053953"/>
            <a:ext cx="1240222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161" name="Text 156"/>
          <p:cNvSpPr/>
          <p:nvPr/>
        </p:nvSpPr>
        <p:spPr>
          <a:xfrm>
            <a:off x="2153774" y="3149179"/>
            <a:ext cx="598535" cy="156020"/>
          </a:xfrm>
          <a:prstGeom prst="roundRect">
            <a:avLst>
              <a:gd name="adj" fmla="val 24420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Text 157"/>
          <p:cNvSpPr/>
          <p:nvPr/>
        </p:nvSpPr>
        <p:spPr>
          <a:xfrm>
            <a:off x="2092381" y="3157538"/>
            <a:ext cx="7213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</a:t>
            </a:r>
            <a:endParaRPr lang="en-US" sz="800" dirty="0"/>
          </a:p>
        </p:txBody>
      </p:sp>
      <p:pic>
        <p:nvPicPr>
          <p:cNvPr id="16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096" y="2836069"/>
            <a:ext cx="1611697" cy="532209"/>
          </a:xfrm>
          <a:prstGeom prst="rect">
            <a:avLst/>
          </a:prstGeom>
        </p:spPr>
      </p:pic>
      <p:sp>
        <p:nvSpPr>
          <p:cNvPr id="164" name="Text 158"/>
          <p:cNvSpPr/>
          <p:nvPr/>
        </p:nvSpPr>
        <p:spPr>
          <a:xfrm>
            <a:off x="3769668" y="2839641"/>
            <a:ext cx="1604553" cy="525066"/>
          </a:xfrm>
          <a:prstGeom prst="roundRect">
            <a:avLst>
              <a:gd name="adj" fmla="val 18141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5" name="Text 159"/>
          <p:cNvSpPr/>
          <p:nvPr/>
        </p:nvSpPr>
        <p:spPr>
          <a:xfrm>
            <a:off x="3857215" y="2907506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#62</a:t>
            </a:r>
            <a:endParaRPr lang="en-US" sz="800" dirty="0"/>
          </a:p>
        </p:txBody>
      </p:sp>
      <p:sp>
        <p:nvSpPr>
          <p:cNvPr id="166" name="Text 160"/>
          <p:cNvSpPr/>
          <p:nvPr/>
        </p:nvSpPr>
        <p:spPr>
          <a:xfrm>
            <a:off x="4048497" y="2914650"/>
            <a:ext cx="1243571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Icon Labels</a:t>
            </a:r>
            <a:endParaRPr lang="en-US" sz="800" dirty="0"/>
          </a:p>
        </p:txBody>
      </p:sp>
      <p:sp>
        <p:nvSpPr>
          <p:cNvPr id="167" name="Text 161"/>
          <p:cNvSpPr/>
          <p:nvPr/>
        </p:nvSpPr>
        <p:spPr>
          <a:xfrm>
            <a:off x="3858964" y="305395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00" dirty="0"/>
          </a:p>
        </p:txBody>
      </p:sp>
      <p:sp>
        <p:nvSpPr>
          <p:cNvPr id="168" name="Text 162"/>
          <p:cNvSpPr/>
          <p:nvPr/>
        </p:nvSpPr>
        <p:spPr>
          <a:xfrm>
            <a:off x="3932746" y="305395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69" name="Text 163"/>
          <p:cNvSpPr/>
          <p:nvPr/>
        </p:nvSpPr>
        <p:spPr>
          <a:xfrm>
            <a:off x="4006528" y="3053953"/>
            <a:ext cx="12855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170" name="Text 164"/>
          <p:cNvSpPr/>
          <p:nvPr/>
        </p:nvSpPr>
        <p:spPr>
          <a:xfrm>
            <a:off x="3836797" y="3149179"/>
            <a:ext cx="598535" cy="156020"/>
          </a:xfrm>
          <a:prstGeom prst="roundRect">
            <a:avLst>
              <a:gd name="adj" fmla="val 24420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1" name="Text 165"/>
          <p:cNvSpPr/>
          <p:nvPr/>
        </p:nvSpPr>
        <p:spPr>
          <a:xfrm>
            <a:off x="3775404" y="3157538"/>
            <a:ext cx="7213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</a:t>
            </a:r>
            <a:endParaRPr lang="en-US" sz="800" dirty="0"/>
          </a:p>
        </p:txBody>
      </p:sp>
      <p:pic>
        <p:nvPicPr>
          <p:cNvPr id="17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230" y="2836069"/>
            <a:ext cx="1611585" cy="532209"/>
          </a:xfrm>
          <a:prstGeom prst="rect">
            <a:avLst/>
          </a:prstGeom>
        </p:spPr>
      </p:pic>
      <p:sp>
        <p:nvSpPr>
          <p:cNvPr id="173" name="Text 166"/>
          <p:cNvSpPr/>
          <p:nvPr/>
        </p:nvSpPr>
        <p:spPr>
          <a:xfrm>
            <a:off x="5452802" y="2839641"/>
            <a:ext cx="1604442" cy="525066"/>
          </a:xfrm>
          <a:prstGeom prst="roundRect">
            <a:avLst>
              <a:gd name="adj" fmla="val 18141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Text 167"/>
          <p:cNvSpPr/>
          <p:nvPr/>
        </p:nvSpPr>
        <p:spPr>
          <a:xfrm>
            <a:off x="5540350" y="2907506"/>
            <a:ext cx="23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#67</a:t>
            </a:r>
            <a:endParaRPr lang="en-US" sz="800" dirty="0"/>
          </a:p>
        </p:txBody>
      </p:sp>
      <p:sp>
        <p:nvSpPr>
          <p:cNvPr id="175" name="Text 168"/>
          <p:cNvSpPr/>
          <p:nvPr/>
        </p:nvSpPr>
        <p:spPr>
          <a:xfrm>
            <a:off x="5731632" y="2914650"/>
            <a:ext cx="1243459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Reduced Motion</a:t>
            </a:r>
            <a:endParaRPr lang="en-US" sz="800" dirty="0"/>
          </a:p>
        </p:txBody>
      </p:sp>
      <p:sp>
        <p:nvSpPr>
          <p:cNvPr id="176" name="Text 169"/>
          <p:cNvSpPr/>
          <p:nvPr/>
        </p:nvSpPr>
        <p:spPr>
          <a:xfrm>
            <a:off x="5532509" y="3053953"/>
            <a:ext cx="1638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</a:t>
            </a:r>
            <a:endParaRPr lang="en-US" sz="800" dirty="0"/>
          </a:p>
        </p:txBody>
      </p:sp>
      <p:sp>
        <p:nvSpPr>
          <p:cNvPr id="177" name="Text 170"/>
          <p:cNvSpPr/>
          <p:nvPr/>
        </p:nvSpPr>
        <p:spPr>
          <a:xfrm>
            <a:off x="5661087" y="305395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78" name="Text 171"/>
          <p:cNvSpPr/>
          <p:nvPr/>
        </p:nvSpPr>
        <p:spPr>
          <a:xfrm>
            <a:off x="5734869" y="3053953"/>
            <a:ext cx="1240222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179" name="Text 172"/>
          <p:cNvSpPr/>
          <p:nvPr/>
        </p:nvSpPr>
        <p:spPr>
          <a:xfrm>
            <a:off x="5519931" y="3149179"/>
            <a:ext cx="598535" cy="156020"/>
          </a:xfrm>
          <a:prstGeom prst="roundRect">
            <a:avLst>
              <a:gd name="adj" fmla="val 24420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Text 173"/>
          <p:cNvSpPr/>
          <p:nvPr/>
        </p:nvSpPr>
        <p:spPr>
          <a:xfrm>
            <a:off x="5458539" y="3157538"/>
            <a:ext cx="7213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</a:t>
            </a:r>
            <a:endParaRPr lang="en-US" sz="800" dirty="0"/>
          </a:p>
        </p:txBody>
      </p:sp>
      <p:sp>
        <p:nvSpPr>
          <p:cNvPr id="181" name="Text 174"/>
          <p:cNvSpPr/>
          <p:nvPr/>
        </p:nvSpPr>
        <p:spPr>
          <a:xfrm>
            <a:off x="7135825" y="2839641"/>
            <a:ext cx="1604553" cy="525066"/>
          </a:xfrm>
          <a:prstGeom prst="roundRect">
            <a:avLst>
              <a:gd name="adj" fmla="val 18141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2" name="Text 175"/>
          <p:cNvSpPr/>
          <p:nvPr/>
        </p:nvSpPr>
        <p:spPr>
          <a:xfrm>
            <a:off x="7225122" y="2907506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183" name="Text 176"/>
          <p:cNvSpPr/>
          <p:nvPr/>
        </p:nvSpPr>
        <p:spPr>
          <a:xfrm>
            <a:off x="7316874" y="2914650"/>
            <a:ext cx="1341351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184" name="Text 177"/>
          <p:cNvSpPr/>
          <p:nvPr/>
        </p:nvSpPr>
        <p:spPr>
          <a:xfrm>
            <a:off x="7225122" y="305395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800" dirty="0"/>
          </a:p>
        </p:txBody>
      </p:sp>
      <p:sp>
        <p:nvSpPr>
          <p:cNvPr id="185" name="Text 178"/>
          <p:cNvSpPr/>
          <p:nvPr/>
        </p:nvSpPr>
        <p:spPr>
          <a:xfrm>
            <a:off x="7298903" y="3053953"/>
            <a:ext cx="914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86" name="Text 179"/>
          <p:cNvSpPr/>
          <p:nvPr/>
        </p:nvSpPr>
        <p:spPr>
          <a:xfrm>
            <a:off x="7372685" y="3053953"/>
            <a:ext cx="12855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187" name="Text 180"/>
          <p:cNvSpPr/>
          <p:nvPr/>
        </p:nvSpPr>
        <p:spPr>
          <a:xfrm>
            <a:off x="7214149" y="3149179"/>
            <a:ext cx="204558" cy="156020"/>
          </a:xfrm>
          <a:prstGeom prst="roundRect">
            <a:avLst>
              <a:gd name="adj" fmla="val 24420"/>
            </a:avLst>
          </a:prstGeom>
          <a:solidFill>
            <a:srgbClr val="F87171">
              <a:alpha val="10000"/>
            </a:srgbClr>
          </a:solidFill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8" name="Text 181"/>
          <p:cNvSpPr/>
          <p:nvPr/>
        </p:nvSpPr>
        <p:spPr>
          <a:xfrm>
            <a:off x="7225122" y="3157538"/>
            <a:ext cx="1826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0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#8</a:t>
            </a:r>
            <a:endParaRPr lang="en-US" sz="800" dirty="0"/>
          </a:p>
        </p:txBody>
      </p:sp>
      <p:pic>
        <p:nvPicPr>
          <p:cNvPr id="18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3454003"/>
            <a:ext cx="8343900" cy="314325"/>
          </a:xfrm>
          <a:prstGeom prst="rect">
            <a:avLst/>
          </a:prstGeom>
        </p:spPr>
      </p:pic>
      <p:sp>
        <p:nvSpPr>
          <p:cNvPr id="190" name="Text 182"/>
          <p:cNvSpPr/>
          <p:nvPr/>
        </p:nvSpPr>
        <p:spPr>
          <a:xfrm>
            <a:off x="403622" y="3457575"/>
            <a:ext cx="8336756" cy="307181"/>
          </a:xfrm>
          <a:prstGeom prst="roundRect">
            <a:avLst>
              <a:gd name="adj" fmla="val 37209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1" name="Text 183"/>
          <p:cNvSpPr/>
          <p:nvPr/>
        </p:nvSpPr>
        <p:spPr>
          <a:xfrm>
            <a:off x="550069" y="353972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06" dirty="0"/>
          </a:p>
        </p:txBody>
      </p:sp>
      <p:sp>
        <p:nvSpPr>
          <p:cNvPr id="192" name="Text 184"/>
          <p:cNvSpPr/>
          <p:nvPr/>
        </p:nvSpPr>
        <p:spPr>
          <a:xfrm>
            <a:off x="778669" y="3541514"/>
            <a:ext cx="7815263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independent quick wins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EE7B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(#61, #62, #67)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ship on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Day 1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hour total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 dependencies.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78BF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273248"/>
            <a:ext cx="15128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PLAN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505420"/>
            <a:ext cx="3845570" cy="266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36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13-Week Transformation </a:t>
            </a:r>
            <a:pPr algn="l" indent="0" marL="0">
              <a:lnSpc>
                <a:spcPts val="1980"/>
              </a:lnSpc>
              <a:buNone/>
            </a:pPr>
            <a:r>
              <a:rPr lang="en-US" sz="1800" b="1" spc="-36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Timeline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00050" y="799654"/>
            <a:ext cx="34959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parallel tracks · 7 milestones · 6 pillars · 23 features unlocked ·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 → A+</a:t>
            </a:r>
            <a:endParaRPr lang="en-US" sz="703" dirty="0"/>
          </a:p>
        </p:txBody>
      </p:sp>
      <p:sp>
        <p:nvSpPr>
          <p:cNvPr id="8" name="Text 4"/>
          <p:cNvSpPr/>
          <p:nvPr/>
        </p:nvSpPr>
        <p:spPr>
          <a:xfrm>
            <a:off x="7115621" y="232172"/>
            <a:ext cx="1624757" cy="196453"/>
          </a:xfrm>
          <a:prstGeom prst="roundRect">
            <a:avLst>
              <a:gd name="adj" fmla="val 484849"/>
            </a:avLst>
          </a:prstGeom>
          <a:solidFill>
            <a:srgbClr val="38BDF8">
              <a:alpha val="12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333506" y="278606"/>
            <a:ext cx="1324719" cy="129679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WEEKS · 2 PARALLEL TRACKS</a:t>
            </a:r>
            <a:endParaRPr lang="en-US" sz="619" dirty="0"/>
          </a:p>
        </p:txBody>
      </p:sp>
      <p:sp>
        <p:nvSpPr>
          <p:cNvPr id="10" name="Text 6"/>
          <p:cNvSpPr/>
          <p:nvPr/>
        </p:nvSpPr>
        <p:spPr>
          <a:xfrm>
            <a:off x="7197775" y="28396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914" dirty="0"/>
          </a:p>
        </p:txBody>
      </p:sp>
      <p:sp>
        <p:nvSpPr>
          <p:cNvPr id="11" name="Text 7"/>
          <p:cNvSpPr/>
          <p:nvPr/>
        </p:nvSpPr>
        <p:spPr>
          <a:xfrm>
            <a:off x="8362876" y="489347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15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82068" y="1022003"/>
            <a:ext cx="609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PILLARS: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956704" y="1019324"/>
            <a:ext cx="5748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 Routing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1559458" y="1019324"/>
            <a:ext cx="5099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#8 Auth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058963" y="1019324"/>
            <a:ext cx="544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 State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582354" y="1019324"/>
            <a:ext cx="7817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#54 Typography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3350642" y="1019324"/>
            <a:ext cx="5946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#36 Copilot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3969246" y="1019324"/>
            <a:ext cx="6063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#53 Color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536170" y="1019324"/>
            <a:ext cx="4207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Same-Day Three (early ship)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03622" y="1215777"/>
            <a:ext cx="608223" cy="650081"/>
          </a:xfrm>
          <a:prstGeom prst="roundRect">
            <a:avLst>
              <a:gd name="adj" fmla="val 12528"/>
            </a:avLst>
          </a:prstGeom>
          <a:solidFill>
            <a:srgbClr val="0F172A">
              <a:alpha val="85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71488" y="1276499"/>
            <a:ext cx="47249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1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71488" y="1394371"/>
            <a:ext cx="472492" cy="176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b="1" spc="-6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Day 1 quick wins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71488" y="1598637"/>
            <a:ext cx="500842" cy="199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1"/>
              </a:lnSpc>
              <a:buNone/>
            </a:pPr>
            <a:r>
              <a:rPr lang="en-US" sz="800" spc="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#54 Typography + #67 Motion + #62 Icons (1 hour)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047564" y="1215777"/>
            <a:ext cx="1252389" cy="650081"/>
          </a:xfrm>
          <a:prstGeom prst="roundRect">
            <a:avLst>
              <a:gd name="adj" fmla="val 11722"/>
            </a:avLst>
          </a:prstGeom>
          <a:solidFill>
            <a:srgbClr val="0F172A">
              <a:alpha val="85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1115430" y="1276499"/>
            <a:ext cx="11166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2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115430" y="1394371"/>
            <a:ext cx="11166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600" b="1" spc="-6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 Routing Phase 1-2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1115430" y="1507220"/>
            <a:ext cx="1116657" cy="144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1"/>
              </a:lnSpc>
              <a:buNone/>
            </a:pPr>
            <a:r>
              <a:rPr lang="en-US" sz="600" spc="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(4 primary routes live)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2335671" y="1215777"/>
            <a:ext cx="1252389" cy="650081"/>
          </a:xfrm>
          <a:prstGeom prst="roundRect">
            <a:avLst>
              <a:gd name="adj" fmla="val 11722"/>
            </a:avLst>
          </a:prstGeom>
          <a:solidFill>
            <a:srgbClr val="0F172A">
              <a:alpha val="85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2403537" y="1276499"/>
            <a:ext cx="11166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4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403537" y="1394371"/>
            <a:ext cx="1116657" cy="176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b="1" spc="-6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 complete + #2 same-day three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2403537" y="1598637"/>
            <a:ext cx="1116657" cy="199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1"/>
              </a:lnSpc>
              <a:buNone/>
            </a:pPr>
            <a:r>
              <a:rPr lang="en-US" sz="800" spc="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(9,555 med pages, state persists)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3623779" y="1215777"/>
            <a:ext cx="1252277" cy="650081"/>
          </a:xfrm>
          <a:prstGeom prst="roundRect">
            <a:avLst>
              <a:gd name="adj" fmla="val 11722"/>
            </a:avLst>
          </a:prstGeom>
          <a:solidFill>
            <a:srgbClr val="0F172A">
              <a:alpha val="85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3691644" y="1276499"/>
            <a:ext cx="111654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6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691644" y="1394371"/>
            <a:ext cx="1183539" cy="176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b="1" spc="-6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#8 Auth Phase 1-2 + #36 Copilot Phase 1-2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691644" y="1598637"/>
            <a:ext cx="1183539" cy="14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1"/>
              </a:lnSpc>
              <a:buNone/>
            </a:pPr>
            <a:r>
              <a:rPr lang="en-US" sz="600" spc="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(per-user accounts, streaming)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4911775" y="1215777"/>
            <a:ext cx="1252389" cy="650081"/>
          </a:xfrm>
          <a:prstGeom prst="roundRect">
            <a:avLst>
              <a:gd name="adj" fmla="val 11722"/>
            </a:avLst>
          </a:prstGeom>
          <a:solidFill>
            <a:srgbClr val="0F172A">
              <a:alpha val="85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979640" y="1276499"/>
            <a:ext cx="11166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8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979640" y="1394371"/>
            <a:ext cx="11166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600" b="1" spc="-6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#8 complete + #36 complete</a:t>
            </a:r>
            <a:endParaRPr lang="en-US" sz="600" dirty="0"/>
          </a:p>
        </p:txBody>
      </p:sp>
      <p:sp>
        <p:nvSpPr>
          <p:cNvPr id="39" name="Text 35"/>
          <p:cNvSpPr/>
          <p:nvPr/>
        </p:nvSpPr>
        <p:spPr>
          <a:xfrm>
            <a:off x="4979640" y="1507220"/>
            <a:ext cx="1116657" cy="28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1"/>
              </a:lnSpc>
              <a:buNone/>
            </a:pPr>
            <a:r>
              <a:rPr lang="en-US" sz="800" spc="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(MFA, audit log, Darija-native)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6199882" y="1215777"/>
            <a:ext cx="1896442" cy="650081"/>
          </a:xfrm>
          <a:prstGeom prst="roundRect">
            <a:avLst>
              <a:gd name="adj" fmla="val 11722"/>
            </a:avLst>
          </a:prstGeom>
          <a:solidFill>
            <a:srgbClr val="0F172A">
              <a:alpha val="85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6267748" y="1276499"/>
            <a:ext cx="176071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10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267748" y="1394371"/>
            <a:ext cx="176071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800" b="1" spc="-6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 complete + #53 complete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6267748" y="1507220"/>
            <a:ext cx="1866354" cy="14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1"/>
              </a:lnSpc>
              <a:buNone/>
            </a:pPr>
            <a:r>
              <a:rPr lang="en-US" sz="800" spc="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(server-side state, Storybook)</a:t>
            </a:r>
            <a:endParaRPr lang="en-US" sz="80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471" y="1212205"/>
            <a:ext cx="615479" cy="657225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8132043" y="1215777"/>
            <a:ext cx="608335" cy="650081"/>
          </a:xfrm>
          <a:prstGeom prst="roundRect">
            <a:avLst>
              <a:gd name="adj" fmla="val 12526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8178655" y="1276499"/>
            <a:ext cx="51511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13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8148632" y="1394371"/>
            <a:ext cx="57515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600" b="1" spc="-6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rollout</a:t>
            </a:r>
            <a:endParaRPr lang="en-US" sz="600" dirty="0"/>
          </a:p>
        </p:txBody>
      </p:sp>
      <p:sp>
        <p:nvSpPr>
          <p:cNvPr id="48" name="Text 43"/>
          <p:cNvSpPr/>
          <p:nvPr/>
        </p:nvSpPr>
        <p:spPr>
          <a:xfrm>
            <a:off x="8199909" y="1507220"/>
            <a:ext cx="472604" cy="28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1"/>
              </a:lnSpc>
              <a:buNone/>
            </a:pPr>
            <a:r>
              <a:rPr lang="en-US" sz="800" spc="5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Platform grade: A+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400050" y="1930152"/>
            <a:ext cx="83439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00050" y="2251621"/>
            <a:ext cx="83439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038299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52" name="Text 47"/>
          <p:cNvSpPr/>
          <p:nvPr/>
        </p:nvSpPr>
        <p:spPr>
          <a:xfrm>
            <a:off x="400050" y="1990874"/>
            <a:ext cx="634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678098" y="2126605"/>
            <a:ext cx="78581" cy="78581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01600" dist="50800" dir="16200000">
              <a:srgbClr val="0B112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49"/>
          <p:cNvSpPr/>
          <p:nvPr/>
        </p:nvSpPr>
        <p:spPr>
          <a:xfrm>
            <a:off x="1680121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55" name="Text 50"/>
          <p:cNvSpPr/>
          <p:nvPr/>
        </p:nvSpPr>
        <p:spPr>
          <a:xfrm>
            <a:off x="1041871" y="1990874"/>
            <a:ext cx="634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W2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1319919" y="2126605"/>
            <a:ext cx="78581" cy="78581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01600" dist="50800" dir="16200000">
              <a:srgbClr val="0B112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2"/>
          <p:cNvSpPr/>
          <p:nvPr/>
        </p:nvSpPr>
        <p:spPr>
          <a:xfrm>
            <a:off x="2321942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58" name="Text 53"/>
          <p:cNvSpPr/>
          <p:nvPr/>
        </p:nvSpPr>
        <p:spPr>
          <a:xfrm>
            <a:off x="1683693" y="1990874"/>
            <a:ext cx="634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W3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1983172" y="2140893"/>
            <a:ext cx="35719" cy="35719"/>
          </a:xfrm>
          <a:prstGeom prst="ellipse">
            <a:avLst/>
          </a:prstGeom>
          <a:solidFill>
            <a:srgbClr val="94A3B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5"/>
          <p:cNvSpPr/>
          <p:nvPr/>
        </p:nvSpPr>
        <p:spPr>
          <a:xfrm>
            <a:off x="2963763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61" name="Text 56"/>
          <p:cNvSpPr/>
          <p:nvPr/>
        </p:nvSpPr>
        <p:spPr>
          <a:xfrm>
            <a:off x="2325514" y="1990874"/>
            <a:ext cx="634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W4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2603562" y="2126605"/>
            <a:ext cx="78581" cy="78581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01600" dist="50800" dir="16200000">
              <a:srgbClr val="0B112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58"/>
          <p:cNvSpPr/>
          <p:nvPr/>
        </p:nvSpPr>
        <p:spPr>
          <a:xfrm>
            <a:off x="3605585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64" name="Text 59"/>
          <p:cNvSpPr/>
          <p:nvPr/>
        </p:nvSpPr>
        <p:spPr>
          <a:xfrm>
            <a:off x="2967335" y="1990874"/>
            <a:ext cx="634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W5</a:t>
            </a:r>
            <a:endParaRPr lang="en-US" sz="800" dirty="0"/>
          </a:p>
        </p:txBody>
      </p:sp>
      <p:sp>
        <p:nvSpPr>
          <p:cNvPr id="65" name="Text 60"/>
          <p:cNvSpPr/>
          <p:nvPr/>
        </p:nvSpPr>
        <p:spPr>
          <a:xfrm>
            <a:off x="3266815" y="2140893"/>
            <a:ext cx="35719" cy="35719"/>
          </a:xfrm>
          <a:prstGeom prst="ellipse">
            <a:avLst/>
          </a:prstGeom>
          <a:solidFill>
            <a:srgbClr val="94A3B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1"/>
          <p:cNvSpPr/>
          <p:nvPr/>
        </p:nvSpPr>
        <p:spPr>
          <a:xfrm>
            <a:off x="4247406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67" name="Text 62"/>
          <p:cNvSpPr/>
          <p:nvPr/>
        </p:nvSpPr>
        <p:spPr>
          <a:xfrm>
            <a:off x="3609156" y="1990874"/>
            <a:ext cx="634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W6</a:t>
            </a:r>
            <a:endParaRPr lang="en-US" sz="800" dirty="0"/>
          </a:p>
        </p:txBody>
      </p:sp>
      <p:sp>
        <p:nvSpPr>
          <p:cNvPr id="68" name="Text 63"/>
          <p:cNvSpPr/>
          <p:nvPr/>
        </p:nvSpPr>
        <p:spPr>
          <a:xfrm>
            <a:off x="3887205" y="2126605"/>
            <a:ext cx="78581" cy="78581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01600" dist="50800" dir="16200000">
              <a:srgbClr val="0B112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4"/>
          <p:cNvSpPr/>
          <p:nvPr/>
        </p:nvSpPr>
        <p:spPr>
          <a:xfrm>
            <a:off x="4889339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70" name="Text 65"/>
          <p:cNvSpPr/>
          <p:nvPr/>
        </p:nvSpPr>
        <p:spPr>
          <a:xfrm>
            <a:off x="4250978" y="1990874"/>
            <a:ext cx="6347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W7</a:t>
            </a:r>
            <a:endParaRPr lang="en-US" sz="800" dirty="0"/>
          </a:p>
        </p:txBody>
      </p:sp>
      <p:sp>
        <p:nvSpPr>
          <p:cNvPr id="71" name="Text 66"/>
          <p:cNvSpPr/>
          <p:nvPr/>
        </p:nvSpPr>
        <p:spPr>
          <a:xfrm>
            <a:off x="4550457" y="2140893"/>
            <a:ext cx="35719" cy="35719"/>
          </a:xfrm>
          <a:prstGeom prst="ellipse">
            <a:avLst/>
          </a:prstGeom>
          <a:solidFill>
            <a:srgbClr val="94A3B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67"/>
          <p:cNvSpPr/>
          <p:nvPr/>
        </p:nvSpPr>
        <p:spPr>
          <a:xfrm>
            <a:off x="5531160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73" name="Text 68"/>
          <p:cNvSpPr/>
          <p:nvPr/>
        </p:nvSpPr>
        <p:spPr>
          <a:xfrm>
            <a:off x="4892911" y="1990874"/>
            <a:ext cx="634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W8</a:t>
            </a:r>
            <a:endParaRPr lang="en-US" sz="800" dirty="0"/>
          </a:p>
        </p:txBody>
      </p:sp>
      <p:sp>
        <p:nvSpPr>
          <p:cNvPr id="74" name="Text 69"/>
          <p:cNvSpPr/>
          <p:nvPr/>
        </p:nvSpPr>
        <p:spPr>
          <a:xfrm>
            <a:off x="5170959" y="2126605"/>
            <a:ext cx="78581" cy="78581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01600" dist="50800" dir="16200000">
              <a:srgbClr val="0B112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0"/>
          <p:cNvSpPr/>
          <p:nvPr/>
        </p:nvSpPr>
        <p:spPr>
          <a:xfrm>
            <a:off x="6172981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76" name="Text 71"/>
          <p:cNvSpPr/>
          <p:nvPr/>
        </p:nvSpPr>
        <p:spPr>
          <a:xfrm>
            <a:off x="5534732" y="1990874"/>
            <a:ext cx="634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W9</a:t>
            </a:r>
            <a:endParaRPr lang="en-US" sz="800" dirty="0"/>
          </a:p>
        </p:txBody>
      </p:sp>
      <p:sp>
        <p:nvSpPr>
          <p:cNvPr id="77" name="Text 72"/>
          <p:cNvSpPr/>
          <p:nvPr/>
        </p:nvSpPr>
        <p:spPr>
          <a:xfrm>
            <a:off x="5834211" y="2140893"/>
            <a:ext cx="35719" cy="35719"/>
          </a:xfrm>
          <a:prstGeom prst="ellipse">
            <a:avLst/>
          </a:prstGeom>
          <a:solidFill>
            <a:srgbClr val="94A3B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3"/>
          <p:cNvSpPr/>
          <p:nvPr/>
        </p:nvSpPr>
        <p:spPr>
          <a:xfrm>
            <a:off x="6814803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79" name="Text 74"/>
          <p:cNvSpPr/>
          <p:nvPr/>
        </p:nvSpPr>
        <p:spPr>
          <a:xfrm>
            <a:off x="6176553" y="1990874"/>
            <a:ext cx="634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W10</a:t>
            </a:r>
            <a:endParaRPr lang="en-US" sz="800" dirty="0"/>
          </a:p>
        </p:txBody>
      </p:sp>
      <p:sp>
        <p:nvSpPr>
          <p:cNvPr id="80" name="Text 75"/>
          <p:cNvSpPr/>
          <p:nvPr/>
        </p:nvSpPr>
        <p:spPr>
          <a:xfrm>
            <a:off x="6454601" y="2126605"/>
            <a:ext cx="78581" cy="78581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01600" dist="50800" dir="16200000">
              <a:srgbClr val="0B112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6"/>
          <p:cNvSpPr/>
          <p:nvPr/>
        </p:nvSpPr>
        <p:spPr>
          <a:xfrm>
            <a:off x="7456624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82" name="Text 77"/>
          <p:cNvSpPr/>
          <p:nvPr/>
        </p:nvSpPr>
        <p:spPr>
          <a:xfrm>
            <a:off x="6818375" y="1990874"/>
            <a:ext cx="634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W11</a:t>
            </a:r>
            <a:endParaRPr lang="en-US" sz="800" dirty="0"/>
          </a:p>
        </p:txBody>
      </p:sp>
      <p:sp>
        <p:nvSpPr>
          <p:cNvPr id="83" name="Text 78"/>
          <p:cNvSpPr/>
          <p:nvPr/>
        </p:nvSpPr>
        <p:spPr>
          <a:xfrm>
            <a:off x="7117854" y="2140893"/>
            <a:ext cx="35719" cy="35719"/>
          </a:xfrm>
          <a:prstGeom prst="ellipse">
            <a:avLst/>
          </a:prstGeom>
          <a:solidFill>
            <a:srgbClr val="94A3B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Shape 79"/>
          <p:cNvSpPr/>
          <p:nvPr/>
        </p:nvSpPr>
        <p:spPr>
          <a:xfrm>
            <a:off x="8098445" y="1933724"/>
            <a:ext cx="0" cy="314325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85" name="Text 80"/>
          <p:cNvSpPr/>
          <p:nvPr/>
        </p:nvSpPr>
        <p:spPr>
          <a:xfrm>
            <a:off x="7460196" y="1990874"/>
            <a:ext cx="634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W12</a:t>
            </a:r>
            <a:endParaRPr lang="en-US" sz="800" dirty="0"/>
          </a:p>
        </p:txBody>
      </p:sp>
      <p:sp>
        <p:nvSpPr>
          <p:cNvPr id="86" name="Text 81"/>
          <p:cNvSpPr/>
          <p:nvPr/>
        </p:nvSpPr>
        <p:spPr>
          <a:xfrm>
            <a:off x="7759675" y="2140893"/>
            <a:ext cx="35719" cy="35719"/>
          </a:xfrm>
          <a:prstGeom prst="ellipse">
            <a:avLst/>
          </a:prstGeom>
          <a:solidFill>
            <a:srgbClr val="94A3B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2"/>
          <p:cNvSpPr/>
          <p:nvPr/>
        </p:nvSpPr>
        <p:spPr>
          <a:xfrm>
            <a:off x="7717036" y="1990874"/>
            <a:ext cx="10269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3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W13</a:t>
            </a:r>
            <a:endParaRPr lang="en-US" sz="800" dirty="0"/>
          </a:p>
        </p:txBody>
      </p:sp>
      <p:pic>
        <p:nvPicPr>
          <p:cNvPr id="8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637" y="2126605"/>
            <a:ext cx="78581" cy="78581"/>
          </a:xfrm>
          <a:prstGeom prst="rect">
            <a:avLst/>
          </a:prstGeom>
        </p:spPr>
      </p:pic>
      <p:sp>
        <p:nvSpPr>
          <p:cNvPr id="89" name="Text 83"/>
          <p:cNvSpPr/>
          <p:nvPr/>
        </p:nvSpPr>
        <p:spPr>
          <a:xfrm>
            <a:off x="400050" y="2448074"/>
            <a:ext cx="986723" cy="13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74"/>
              </a:lnSpc>
              <a:buNone/>
            </a:pPr>
            <a:r>
              <a:rPr lang="en-US" sz="800" spc="67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90" name="Text 84"/>
          <p:cNvSpPr/>
          <p:nvPr/>
        </p:nvSpPr>
        <p:spPr>
          <a:xfrm>
            <a:off x="400050" y="2563713"/>
            <a:ext cx="9508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30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 → #8 → #2</a:t>
            </a:r>
            <a:endParaRPr lang="en-US" sz="800" dirty="0"/>
          </a:p>
        </p:txBody>
      </p:sp>
      <p:sp>
        <p:nvSpPr>
          <p:cNvPr id="91" name="Text 85"/>
          <p:cNvSpPr/>
          <p:nvPr/>
        </p:nvSpPr>
        <p:spPr>
          <a:xfrm>
            <a:off x="400050" y="2933849"/>
            <a:ext cx="785813" cy="26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4"/>
              </a:lnSpc>
              <a:buNone/>
            </a:pPr>
            <a:r>
              <a:rPr lang="en-US" sz="800" spc="67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· ENGAGEMENT</a:t>
            </a:r>
            <a:endParaRPr lang="en-US" sz="800" dirty="0"/>
          </a:p>
        </p:txBody>
      </p:sp>
      <p:sp>
        <p:nvSpPr>
          <p:cNvPr id="92" name="Text 86"/>
          <p:cNvSpPr/>
          <p:nvPr/>
        </p:nvSpPr>
        <p:spPr>
          <a:xfrm>
            <a:off x="400050" y="3122265"/>
            <a:ext cx="9508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30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#54 → #53 → #36</a:t>
            </a:r>
            <a:endParaRPr lang="en-US" sz="800" dirty="0"/>
          </a:p>
        </p:txBody>
      </p:sp>
      <p:pic>
        <p:nvPicPr>
          <p:cNvPr id="9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3255318"/>
            <a:ext cx="8343900" cy="328613"/>
          </a:xfrm>
          <a:prstGeom prst="rect">
            <a:avLst/>
          </a:prstGeom>
        </p:spPr>
      </p:pic>
      <p:sp>
        <p:nvSpPr>
          <p:cNvPr id="94" name="Text 87"/>
          <p:cNvSpPr/>
          <p:nvPr/>
        </p:nvSpPr>
        <p:spPr>
          <a:xfrm>
            <a:off x="403622" y="3258889"/>
            <a:ext cx="8336756" cy="321469"/>
          </a:xfrm>
          <a:prstGeom prst="roundRect">
            <a:avLst>
              <a:gd name="adj" fmla="val 35556"/>
            </a:avLst>
          </a:prstGeom>
          <a:noFill/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88"/>
          <p:cNvSpPr/>
          <p:nvPr/>
        </p:nvSpPr>
        <p:spPr>
          <a:xfrm>
            <a:off x="550069" y="334818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96" name="Text 89"/>
          <p:cNvSpPr/>
          <p:nvPr/>
        </p:nvSpPr>
        <p:spPr>
          <a:xfrm>
            <a:off x="778669" y="3349972"/>
            <a:ext cx="7815263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engineers in parallel.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designer + 1 PM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coordination.</a:t>
            </a:r>
            <a:endParaRPr lang="en-US" sz="800" dirty="0"/>
          </a:p>
        </p:txBody>
      </p:sp>
      <p:pic>
        <p:nvPicPr>
          <p:cNvPr id="9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900" y="2398068"/>
            <a:ext cx="1667284" cy="314325"/>
          </a:xfrm>
          <a:prstGeom prst="rect">
            <a:avLst/>
          </a:prstGeom>
        </p:spPr>
      </p:pic>
      <p:sp>
        <p:nvSpPr>
          <p:cNvPr id="98" name="Text 90"/>
          <p:cNvSpPr/>
          <p:nvPr/>
        </p:nvSpPr>
        <p:spPr>
          <a:xfrm>
            <a:off x="1874900" y="2385266"/>
            <a:ext cx="1667284" cy="339928"/>
          </a:xfrm>
          <a:prstGeom prst="roundRect">
            <a:avLst>
              <a:gd name="adj" fmla="val 22417"/>
            </a:avLst>
          </a:prstGeom>
          <a:noFill/>
          <a:ln w="7144">
            <a:solidFill>
              <a:srgbClr val="38BDF8"/>
            </a:solidFill>
            <a:prstDash val="solid"/>
          </a:ln>
          <a:effectLst>
            <a:outerShdw sx="100000" sy="100000" kx="0" ky="0" algn="bl" rotWithShape="0" blurRad="171450" dist="38100" dir="5400000">
              <a:srgbClr val="38BDF8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1"/>
          <p:cNvSpPr/>
          <p:nvPr/>
        </p:nvSpPr>
        <p:spPr>
          <a:xfrm>
            <a:off x="1967768" y="2498973"/>
            <a:ext cx="12046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2" kern="0" dirty="0">
                <a:solidFill>
                  <a:srgbClr val="0B11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#1 ROUTING</a:t>
            </a:r>
            <a:endParaRPr lang="en-US" sz="800" dirty="0"/>
          </a:p>
        </p:txBody>
      </p:sp>
      <p:sp>
        <p:nvSpPr>
          <p:cNvPr id="100" name="Text 92"/>
          <p:cNvSpPr/>
          <p:nvPr/>
        </p:nvSpPr>
        <p:spPr>
          <a:xfrm>
            <a:off x="3156272" y="2507010"/>
            <a:ext cx="330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spc="30" kern="0" dirty="0">
                <a:solidFill>
                  <a:srgbClr val="0B1120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 DAYS</a:t>
            </a:r>
            <a:endParaRPr lang="en-US" sz="600" dirty="0"/>
          </a:p>
        </p:txBody>
      </p:sp>
      <p:pic>
        <p:nvPicPr>
          <p:cNvPr id="10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9334" y="2398068"/>
            <a:ext cx="2242021" cy="314325"/>
          </a:xfrm>
          <a:prstGeom prst="rect">
            <a:avLst/>
          </a:prstGeom>
        </p:spPr>
      </p:pic>
      <p:sp>
        <p:nvSpPr>
          <p:cNvPr id="102" name="Text 93"/>
          <p:cNvSpPr/>
          <p:nvPr/>
        </p:nvSpPr>
        <p:spPr>
          <a:xfrm>
            <a:off x="3602906" y="2401639"/>
            <a:ext cx="2234878" cy="307181"/>
          </a:xfrm>
          <a:prstGeom prst="roundRect">
            <a:avLst>
              <a:gd name="adj" fmla="val 24806"/>
            </a:avLst>
          </a:prstGeom>
          <a:noFill/>
          <a:ln w="7144">
            <a:solidFill>
              <a:srgbClr val="F87171"/>
            </a:solidFill>
            <a:prstDash val="solid"/>
          </a:ln>
          <a:effectLst>
            <a:outerShdw sx="100000" sy="100000" kx="0" ky="0" algn="bl" rotWithShape="0" blurRad="171450" dist="38100" dir="5400000">
              <a:srgbClr val="F87171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94"/>
          <p:cNvSpPr/>
          <p:nvPr/>
        </p:nvSpPr>
        <p:spPr>
          <a:xfrm>
            <a:off x="3692203" y="2498973"/>
            <a:ext cx="17368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2" kern="0" dirty="0">
                <a:solidFill>
                  <a:srgbClr val="0B11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#8 AUTHENTICATION</a:t>
            </a:r>
            <a:endParaRPr lang="en-US" sz="800" dirty="0"/>
          </a:p>
        </p:txBody>
      </p:sp>
      <p:sp>
        <p:nvSpPr>
          <p:cNvPr id="104" name="Text 95"/>
          <p:cNvSpPr/>
          <p:nvPr/>
        </p:nvSpPr>
        <p:spPr>
          <a:xfrm>
            <a:off x="5406305" y="2507010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spc="30" kern="0" dirty="0">
                <a:solidFill>
                  <a:srgbClr val="0B1120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WEEKS</a:t>
            </a:r>
            <a:endParaRPr lang="en-US" sz="600" dirty="0"/>
          </a:p>
        </p:txBody>
      </p:sp>
      <p:pic>
        <p:nvPicPr>
          <p:cNvPr id="10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8505" y="2398068"/>
            <a:ext cx="1092436" cy="314325"/>
          </a:xfrm>
          <a:prstGeom prst="rect">
            <a:avLst/>
          </a:prstGeom>
        </p:spPr>
      </p:pic>
      <p:sp>
        <p:nvSpPr>
          <p:cNvPr id="106" name="Text 96"/>
          <p:cNvSpPr/>
          <p:nvPr/>
        </p:nvSpPr>
        <p:spPr>
          <a:xfrm>
            <a:off x="5898505" y="2385266"/>
            <a:ext cx="1092436" cy="339928"/>
          </a:xfrm>
          <a:prstGeom prst="roundRect">
            <a:avLst>
              <a:gd name="adj" fmla="val 22417"/>
            </a:avLst>
          </a:prstGeom>
          <a:noFill/>
          <a:ln w="7144">
            <a:solidFill>
              <a:srgbClr val="FBBF24"/>
            </a:solidFill>
            <a:prstDash val="solid"/>
          </a:ln>
          <a:effectLst>
            <a:outerShdw sx="100000" sy="100000" kx="0" ky="0" algn="bl" rotWithShape="0" blurRad="171450" dist="38100" dir="5400000">
              <a:srgbClr val="FBBF24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97"/>
          <p:cNvSpPr/>
          <p:nvPr/>
        </p:nvSpPr>
        <p:spPr>
          <a:xfrm>
            <a:off x="5991374" y="2498973"/>
            <a:ext cx="6724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2" kern="0" dirty="0">
                <a:solidFill>
                  <a:srgbClr val="0B11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 STATE</a:t>
            </a:r>
            <a:endParaRPr lang="en-US" sz="800" dirty="0"/>
          </a:p>
        </p:txBody>
      </p:sp>
      <p:sp>
        <p:nvSpPr>
          <p:cNvPr id="108" name="Text 98"/>
          <p:cNvSpPr/>
          <p:nvPr/>
        </p:nvSpPr>
        <p:spPr>
          <a:xfrm>
            <a:off x="6654222" y="2507010"/>
            <a:ext cx="274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spc="30" kern="0" dirty="0">
                <a:solidFill>
                  <a:srgbClr val="0B1120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WKS</a:t>
            </a:r>
            <a:endParaRPr lang="en-US" sz="600" dirty="0"/>
          </a:p>
        </p:txBody>
      </p:sp>
      <p:pic>
        <p:nvPicPr>
          <p:cNvPr id="10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163" y="2883843"/>
            <a:ext cx="517587" cy="314325"/>
          </a:xfrm>
          <a:prstGeom prst="rect">
            <a:avLst/>
          </a:prstGeom>
        </p:spPr>
      </p:pic>
      <p:sp>
        <p:nvSpPr>
          <p:cNvPr id="110" name="Text 99"/>
          <p:cNvSpPr/>
          <p:nvPr/>
        </p:nvSpPr>
        <p:spPr>
          <a:xfrm>
            <a:off x="1279459" y="2871041"/>
            <a:ext cx="558994" cy="339928"/>
          </a:xfrm>
          <a:prstGeom prst="roundRect">
            <a:avLst>
              <a:gd name="adj" fmla="val 22417"/>
            </a:avLst>
          </a:prstGeom>
          <a:noFill/>
          <a:ln w="7144">
            <a:solidFill>
              <a:srgbClr val="A78BFA"/>
            </a:solidFill>
            <a:prstDash val="solid"/>
          </a:ln>
          <a:effectLst>
            <a:outerShdw sx="100000" sy="100000" kx="0" ky="0" algn="bl" rotWithShape="0" blurRad="171450" dist="38100" dir="5400000">
              <a:srgbClr val="A78BFA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0"/>
          <p:cNvSpPr/>
          <p:nvPr/>
        </p:nvSpPr>
        <p:spPr>
          <a:xfrm>
            <a:off x="1361073" y="2987427"/>
            <a:ext cx="4267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" kern="0" dirty="0">
                <a:solidFill>
                  <a:srgbClr val="0B11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#54 TYPO</a:t>
            </a:r>
            <a:endParaRPr lang="en-US" sz="600" dirty="0"/>
          </a:p>
        </p:txBody>
      </p:sp>
      <p:pic>
        <p:nvPicPr>
          <p:cNvPr id="11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9334" y="2883843"/>
            <a:ext cx="2242021" cy="314325"/>
          </a:xfrm>
          <a:prstGeom prst="rect">
            <a:avLst/>
          </a:prstGeom>
        </p:spPr>
      </p:pic>
      <p:sp>
        <p:nvSpPr>
          <p:cNvPr id="113" name="Text 101"/>
          <p:cNvSpPr/>
          <p:nvPr/>
        </p:nvSpPr>
        <p:spPr>
          <a:xfrm>
            <a:off x="3602906" y="2887414"/>
            <a:ext cx="2234878" cy="307181"/>
          </a:xfrm>
          <a:prstGeom prst="roundRect">
            <a:avLst>
              <a:gd name="adj" fmla="val 24806"/>
            </a:avLst>
          </a:prstGeom>
          <a:noFill/>
          <a:ln w="7144">
            <a:solidFill>
              <a:srgbClr val="A78BFA"/>
            </a:solidFill>
            <a:prstDash val="solid"/>
          </a:ln>
          <a:effectLst>
            <a:outerShdw sx="100000" sy="100000" kx="0" ky="0" algn="bl" rotWithShape="0" blurRad="171450" dist="38100" dir="5400000">
              <a:srgbClr val="A78BFA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Text 102"/>
          <p:cNvSpPr/>
          <p:nvPr/>
        </p:nvSpPr>
        <p:spPr>
          <a:xfrm>
            <a:off x="3692203" y="2984748"/>
            <a:ext cx="17368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2" kern="0" dirty="0">
                <a:solidFill>
                  <a:srgbClr val="0B11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#36 AI COPILOT</a:t>
            </a:r>
            <a:endParaRPr lang="en-US" sz="800" dirty="0"/>
          </a:p>
        </p:txBody>
      </p:sp>
      <p:sp>
        <p:nvSpPr>
          <p:cNvPr id="115" name="Text 103"/>
          <p:cNvSpPr/>
          <p:nvPr/>
        </p:nvSpPr>
        <p:spPr>
          <a:xfrm>
            <a:off x="5406305" y="2992785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spc="30" kern="0" dirty="0">
                <a:solidFill>
                  <a:srgbClr val="0B1120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WEEKS</a:t>
            </a:r>
            <a:endParaRPr lang="en-US" sz="600" dirty="0"/>
          </a:p>
        </p:txBody>
      </p:sp>
      <p:pic>
        <p:nvPicPr>
          <p:cNvPr id="1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8505" y="2883843"/>
            <a:ext cx="1092436" cy="314325"/>
          </a:xfrm>
          <a:prstGeom prst="rect">
            <a:avLst/>
          </a:prstGeom>
        </p:spPr>
      </p:pic>
      <p:sp>
        <p:nvSpPr>
          <p:cNvPr id="117" name="Text 104"/>
          <p:cNvSpPr/>
          <p:nvPr/>
        </p:nvSpPr>
        <p:spPr>
          <a:xfrm>
            <a:off x="5898505" y="2871041"/>
            <a:ext cx="1092436" cy="339928"/>
          </a:xfrm>
          <a:prstGeom prst="roundRect">
            <a:avLst>
              <a:gd name="adj" fmla="val 22417"/>
            </a:avLst>
          </a:prstGeom>
          <a:noFill/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171450" dist="38100" dir="5400000">
              <a:srgbClr val="22D3EE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05"/>
          <p:cNvSpPr/>
          <p:nvPr/>
        </p:nvSpPr>
        <p:spPr>
          <a:xfrm>
            <a:off x="5991374" y="2984748"/>
            <a:ext cx="6724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2" kern="0" dirty="0">
                <a:solidFill>
                  <a:srgbClr val="0B11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#53 COLOR</a:t>
            </a:r>
            <a:endParaRPr lang="en-US" sz="800" dirty="0"/>
          </a:p>
        </p:txBody>
      </p:sp>
      <p:sp>
        <p:nvSpPr>
          <p:cNvPr id="119" name="Text 106"/>
          <p:cNvSpPr/>
          <p:nvPr/>
        </p:nvSpPr>
        <p:spPr>
          <a:xfrm>
            <a:off x="6654222" y="2992785"/>
            <a:ext cx="274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spc="30" kern="0" dirty="0">
                <a:solidFill>
                  <a:srgbClr val="0B1120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WKS</a:t>
            </a:r>
            <a:endParaRPr lang="en-US" sz="600" dirty="0"/>
          </a:p>
        </p:txBody>
      </p:sp>
      <p:pic>
        <p:nvPicPr>
          <p:cNvPr id="12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92409" y="2464305"/>
            <a:ext cx="181850" cy="181850"/>
          </a:xfrm>
          <a:prstGeom prst="rect">
            <a:avLst/>
          </a:prstGeom>
        </p:spPr>
      </p:pic>
      <p:sp>
        <p:nvSpPr>
          <p:cNvPr id="121" name="Text 107"/>
          <p:cNvSpPr/>
          <p:nvPr/>
        </p:nvSpPr>
        <p:spPr>
          <a:xfrm rot="2700000">
            <a:off x="3195981" y="2467877"/>
            <a:ext cx="174707" cy="174706"/>
          </a:xfrm>
          <a:prstGeom prst="rect">
            <a:avLst/>
          </a:prstGeom>
          <a:noFill/>
          <a:ln w="7144">
            <a:solidFill>
              <a:srgbClr val="0B1120"/>
            </a:solidFill>
            <a:prstDash val="solid"/>
          </a:ln>
          <a:effectLst>
            <a:outerShdw sx="100000" sy="100000" kx="0" ky="0" algn="bl" rotWithShape="0" blurRad="133350" dist="50800" dir="16200000">
              <a:srgbClr val="FBBF24">
                <a:alpha val="6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08"/>
          <p:cNvSpPr/>
          <p:nvPr/>
        </p:nvSpPr>
        <p:spPr>
          <a:xfrm rot="18900000">
            <a:off x="3251188" y="2512368"/>
            <a:ext cx="91440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b="1" spc="-18" kern="0" dirty="0">
                <a:solidFill>
                  <a:srgbClr val="0B11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S3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78BF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301823"/>
            <a:ext cx="1768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OUTCOMES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533995"/>
            <a:ext cx="3089214" cy="282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Transformation</a:t>
            </a:r>
            <a:endParaRPr lang="en-US" sz="1913" dirty="0"/>
          </a:p>
        </p:txBody>
      </p:sp>
      <p:sp>
        <p:nvSpPr>
          <p:cNvPr id="7" name="Text 3"/>
          <p:cNvSpPr/>
          <p:nvPr/>
        </p:nvSpPr>
        <p:spPr>
          <a:xfrm>
            <a:off x="400050" y="843967"/>
            <a:ext cx="29421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measurable outcomes · total cost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~$60-100K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~$120/month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opex.</a:t>
            </a:r>
            <a:endParaRPr lang="en-US" sz="703" dirty="0"/>
          </a:p>
        </p:txBody>
      </p:sp>
      <p:sp>
        <p:nvSpPr>
          <p:cNvPr id="8" name="Text 4"/>
          <p:cNvSpPr/>
          <p:nvPr/>
        </p:nvSpPr>
        <p:spPr>
          <a:xfrm>
            <a:off x="7115621" y="260747"/>
            <a:ext cx="1624757" cy="196453"/>
          </a:xfrm>
          <a:prstGeom prst="roundRect">
            <a:avLst>
              <a:gd name="adj" fmla="val 484849"/>
            </a:avLst>
          </a:prstGeom>
          <a:solidFill>
            <a:srgbClr val="34D399">
              <a:alpha val="14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333506" y="307181"/>
            <a:ext cx="1324719" cy="129679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OUTCOMES · 13-WEEK PAYBACK</a:t>
            </a:r>
            <a:endParaRPr lang="en-US" sz="619" dirty="0"/>
          </a:p>
        </p:txBody>
      </p:sp>
      <p:sp>
        <p:nvSpPr>
          <p:cNvPr id="10" name="Text 6"/>
          <p:cNvSpPr/>
          <p:nvPr/>
        </p:nvSpPr>
        <p:spPr>
          <a:xfrm>
            <a:off x="7197775" y="31253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14" dirty="0"/>
          </a:p>
        </p:txBody>
      </p:sp>
      <p:sp>
        <p:nvSpPr>
          <p:cNvPr id="11" name="Text 7"/>
          <p:cNvSpPr/>
          <p:nvPr/>
        </p:nvSpPr>
        <p:spPr>
          <a:xfrm>
            <a:off x="8362876" y="517922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15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092212"/>
            <a:ext cx="2724113" cy="7429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3622" y="1095784"/>
            <a:ext cx="2716969" cy="735806"/>
          </a:xfrm>
          <a:prstGeom prst="roundRect">
            <a:avLst>
              <a:gd name="adj" fmla="val 1812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2902707" y="119936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84" dirty="0"/>
          </a:p>
        </p:txBody>
      </p:sp>
      <p:sp>
        <p:nvSpPr>
          <p:cNvPr id="15" name="Text 10"/>
          <p:cNvSpPr/>
          <p:nvPr/>
        </p:nvSpPr>
        <p:spPr>
          <a:xfrm>
            <a:off x="564356" y="1227944"/>
            <a:ext cx="2409788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 TRAFFIC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64356" y="1372605"/>
            <a:ext cx="240978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3"/>
              </a:lnSpc>
              <a:buNone/>
            </a:pPr>
            <a:r>
              <a:rPr lang="en-US" sz="3150" b="1" spc="-63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380×</a:t>
            </a:r>
            <a:endParaRPr lang="en-US" sz="3150" dirty="0"/>
          </a:p>
        </p:txBody>
      </p:sp>
      <p:sp>
        <p:nvSpPr>
          <p:cNvPr id="17" name="Text 12"/>
          <p:cNvSpPr/>
          <p:nvPr/>
        </p:nvSpPr>
        <p:spPr>
          <a:xfrm>
            <a:off x="564356" y="1824000"/>
            <a:ext cx="2409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SEO Traffic Increase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64356" y="1963973"/>
            <a:ext cx="2409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190K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monthly visits</a:t>
            </a:r>
            <a:endParaRPr lang="en-US" sz="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888" y="1092212"/>
            <a:ext cx="2724113" cy="7429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213460" y="1095784"/>
            <a:ext cx="2716969" cy="735806"/>
          </a:xfrm>
          <a:prstGeom prst="roundRect">
            <a:avLst>
              <a:gd name="adj" fmla="val 1812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5712544" y="119936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984" dirty="0"/>
          </a:p>
        </p:txBody>
      </p:sp>
      <p:sp>
        <p:nvSpPr>
          <p:cNvPr id="22" name="Text 16"/>
          <p:cNvSpPr/>
          <p:nvPr/>
        </p:nvSpPr>
        <p:spPr>
          <a:xfrm>
            <a:off x="3374194" y="1227944"/>
            <a:ext cx="2409788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 SPEND EQUIV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3374194" y="1372605"/>
            <a:ext cx="2409788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49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$11,400</a:t>
            </a:r>
            <a:pPr algn="l" indent="0" marL="0">
              <a:lnSpc>
                <a:spcPts val="2351"/>
              </a:lnSpc>
              <a:buNone/>
            </a:pPr>
            <a:r>
              <a:rPr lang="en-US" sz="1238" b="1" spc="-49" kern="0" dirty="0">
                <a:solidFill>
                  <a:srgbClr val="34D399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/yr</a:t>
            </a:r>
            <a:endParaRPr lang="en-US" sz="2475" dirty="0"/>
          </a:p>
        </p:txBody>
      </p:sp>
      <p:sp>
        <p:nvSpPr>
          <p:cNvPr id="24" name="Text 18"/>
          <p:cNvSpPr/>
          <p:nvPr/>
        </p:nvSpPr>
        <p:spPr>
          <a:xfrm>
            <a:off x="3374194" y="1742629"/>
            <a:ext cx="2409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Equivalent Ad Spend Value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3374194" y="1882601"/>
            <a:ext cx="25195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organic traffic, forever</a:t>
            </a:r>
            <a:endParaRPr lang="en-US" sz="8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726" y="1092212"/>
            <a:ext cx="2724224" cy="7429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23297" y="1095784"/>
            <a:ext cx="2717081" cy="735806"/>
          </a:xfrm>
          <a:prstGeom prst="roundRect">
            <a:avLst>
              <a:gd name="adj" fmla="val 1812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8522494" y="119936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29" name="Text 22"/>
          <p:cNvSpPr/>
          <p:nvPr/>
        </p:nvSpPr>
        <p:spPr>
          <a:xfrm>
            <a:off x="6184032" y="1227944"/>
            <a:ext cx="2409899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 LATENCY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6184032" y="1372605"/>
            <a:ext cx="2409899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3"/>
              </a:lnSpc>
              <a:buNone/>
            </a:pPr>
            <a:r>
              <a:rPr lang="en-US" sz="3150" b="1" spc="-63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10×</a:t>
            </a:r>
            <a:endParaRPr lang="en-US" sz="3150" dirty="0"/>
          </a:p>
        </p:txBody>
      </p:sp>
      <p:sp>
        <p:nvSpPr>
          <p:cNvPr id="31" name="Text 24"/>
          <p:cNvSpPr/>
          <p:nvPr/>
        </p:nvSpPr>
        <p:spPr>
          <a:xfrm>
            <a:off x="6184032" y="1824000"/>
            <a:ext cx="251962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 Latency Improvement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6184032" y="1963973"/>
            <a:ext cx="240989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11s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EE7B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1s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perceived</a:t>
            </a:r>
            <a:endParaRPr lang="en-US" sz="8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1920887"/>
            <a:ext cx="2724113" cy="7429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03622" y="1924459"/>
            <a:ext cx="2716969" cy="735806"/>
          </a:xfrm>
          <a:prstGeom prst="roundRect">
            <a:avLst>
              <a:gd name="adj" fmla="val 1812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2902707" y="202804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984" dirty="0"/>
          </a:p>
        </p:txBody>
      </p:sp>
      <p:sp>
        <p:nvSpPr>
          <p:cNvPr id="36" name="Text 28"/>
          <p:cNvSpPr/>
          <p:nvPr/>
        </p:nvSpPr>
        <p:spPr>
          <a:xfrm>
            <a:off x="564356" y="2056619"/>
            <a:ext cx="2409788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GRADE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564356" y="2201280"/>
            <a:ext cx="240978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3"/>
              </a:lnSpc>
              <a:buNone/>
            </a:pPr>
            <a:r>
              <a:rPr lang="en-US" sz="3150" b="1" spc="-63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3150" dirty="0"/>
          </a:p>
        </p:txBody>
      </p:sp>
      <p:sp>
        <p:nvSpPr>
          <p:cNvPr id="38" name="Text 30"/>
          <p:cNvSpPr/>
          <p:nvPr/>
        </p:nvSpPr>
        <p:spPr>
          <a:xfrm>
            <a:off x="564356" y="2652675"/>
            <a:ext cx="2409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Platform Grade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564356" y="2792648"/>
            <a:ext cx="2409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in 13 weeks</a:t>
            </a:r>
            <a:endParaRPr lang="en-US" sz="8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9888" y="1920887"/>
            <a:ext cx="2724113" cy="74295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3213460" y="1924459"/>
            <a:ext cx="2716969" cy="735806"/>
          </a:xfrm>
          <a:prstGeom prst="roundRect">
            <a:avLst>
              <a:gd name="adj" fmla="val 1812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5712544" y="202804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43" name="Text 34"/>
          <p:cNvSpPr/>
          <p:nvPr/>
        </p:nvSpPr>
        <p:spPr>
          <a:xfrm>
            <a:off x="3374194" y="2056619"/>
            <a:ext cx="2409788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3374194" y="2201280"/>
            <a:ext cx="2409788" cy="234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b="1" spc="-36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Law 85-05</a:t>
            </a:r>
            <a:endParaRPr lang="en-US" sz="1800" dirty="0"/>
          </a:p>
        </p:txBody>
      </p:sp>
      <p:sp>
        <p:nvSpPr>
          <p:cNvPr id="45" name="Text 36"/>
          <p:cNvSpPr/>
          <p:nvPr/>
        </p:nvSpPr>
        <p:spPr>
          <a:xfrm>
            <a:off x="3374194" y="2489820"/>
            <a:ext cx="2409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Compliant</a:t>
            </a:r>
            <a:endParaRPr lang="en-US" sz="800" dirty="0"/>
          </a:p>
        </p:txBody>
      </p:sp>
      <p:sp>
        <p:nvSpPr>
          <p:cNvPr id="46" name="Text 37"/>
          <p:cNvSpPr/>
          <p:nvPr/>
        </p:nvSpPr>
        <p:spPr>
          <a:xfrm>
            <a:off x="3374194" y="2629793"/>
            <a:ext cx="25195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Algerian pharmacy law ready</a:t>
            </a:r>
            <a:endParaRPr lang="en-US" sz="8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726" y="1920887"/>
            <a:ext cx="2724224" cy="74295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023297" y="1924459"/>
            <a:ext cx="2717081" cy="735806"/>
          </a:xfrm>
          <a:prstGeom prst="roundRect">
            <a:avLst>
              <a:gd name="adj" fmla="val 1812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39"/>
          <p:cNvSpPr/>
          <p:nvPr/>
        </p:nvSpPr>
        <p:spPr>
          <a:xfrm>
            <a:off x="8522494" y="202804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984" dirty="0"/>
          </a:p>
        </p:txBody>
      </p:sp>
      <p:sp>
        <p:nvSpPr>
          <p:cNvPr id="50" name="Text 40"/>
          <p:cNvSpPr/>
          <p:nvPr/>
        </p:nvSpPr>
        <p:spPr>
          <a:xfrm>
            <a:off x="6184032" y="2056619"/>
            <a:ext cx="2409899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IDENTITY</a:t>
            </a:r>
            <a:endParaRPr lang="en-US" sz="800" dirty="0"/>
          </a:p>
        </p:txBody>
      </p:sp>
      <p:sp>
        <p:nvSpPr>
          <p:cNvPr id="51" name="Text 41"/>
          <p:cNvSpPr/>
          <p:nvPr/>
        </p:nvSpPr>
        <p:spPr>
          <a:xfrm>
            <a:off x="6184032" y="2201280"/>
            <a:ext cx="2409899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475" b="1" spc="-49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</a:t>
            </a:r>
            <a:endParaRPr lang="en-US" sz="2475" dirty="0"/>
          </a:p>
        </p:txBody>
      </p:sp>
      <p:sp>
        <p:nvSpPr>
          <p:cNvPr id="52" name="Text 42"/>
          <p:cNvSpPr/>
          <p:nvPr/>
        </p:nvSpPr>
        <p:spPr>
          <a:xfrm>
            <a:off x="6184032" y="2571304"/>
            <a:ext cx="251962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Brand Identity Across Devices</a:t>
            </a:r>
            <a:endParaRPr lang="en-US" sz="800" dirty="0"/>
          </a:p>
        </p:txBody>
      </p:sp>
      <p:sp>
        <p:nvSpPr>
          <p:cNvPr id="53" name="Text 43"/>
          <p:cNvSpPr/>
          <p:nvPr/>
        </p:nvSpPr>
        <p:spPr>
          <a:xfrm>
            <a:off x="6184032" y="2711276"/>
            <a:ext cx="251962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next/font · single source of truth</a:t>
            </a:r>
            <a:endParaRPr lang="en-US" sz="800" dirty="0"/>
          </a:p>
        </p:txBody>
      </p:sp>
      <p:sp>
        <p:nvSpPr>
          <p:cNvPr id="54" name="Text 44"/>
          <p:cNvSpPr/>
          <p:nvPr/>
        </p:nvSpPr>
        <p:spPr>
          <a:xfrm>
            <a:off x="400050" y="2778137"/>
            <a:ext cx="65711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COST BREAKDOWN · 13-WEEK ENGAGEMENT</a:t>
            </a:r>
            <a:endParaRPr lang="en-US" sz="800" dirty="0"/>
          </a:p>
        </p:txBody>
      </p:sp>
      <p:sp>
        <p:nvSpPr>
          <p:cNvPr id="55" name="Text 45"/>
          <p:cNvSpPr/>
          <p:nvPr/>
        </p:nvSpPr>
        <p:spPr>
          <a:xfrm>
            <a:off x="6985471" y="2780816"/>
            <a:ext cx="19868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86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CAPEX ~$60-100K · OPEX ~$120/MONTH</a:t>
            </a:r>
            <a:endParaRPr lang="en-US" sz="600" dirty="0"/>
          </a:p>
        </p:txBody>
      </p:sp>
      <p:sp>
        <p:nvSpPr>
          <p:cNvPr id="56" name="Text 46"/>
          <p:cNvSpPr/>
          <p:nvPr/>
        </p:nvSpPr>
        <p:spPr>
          <a:xfrm>
            <a:off x="403622" y="2960303"/>
            <a:ext cx="2716969" cy="547836"/>
          </a:xfrm>
          <a:prstGeom prst="roundRect">
            <a:avLst>
              <a:gd name="adj" fmla="val 17387"/>
            </a:avLst>
          </a:prstGeom>
          <a:solidFill>
            <a:srgbClr val="0F172A">
              <a:alpha val="6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7"/>
          <p:cNvSpPr/>
          <p:nvPr/>
        </p:nvSpPr>
        <p:spPr>
          <a:xfrm>
            <a:off x="525066" y="3109206"/>
            <a:ext cx="250031" cy="250031"/>
          </a:xfrm>
          <a:prstGeom prst="roundRect">
            <a:avLst>
              <a:gd name="adj" fmla="val 3428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8"/>
          <p:cNvSpPr/>
          <p:nvPr/>
        </p:nvSpPr>
        <p:spPr>
          <a:xfrm>
            <a:off x="556855" y="314099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266" dirty="0"/>
          </a:p>
        </p:txBody>
      </p:sp>
      <p:sp>
        <p:nvSpPr>
          <p:cNvPr id="59" name="Text 49"/>
          <p:cNvSpPr/>
          <p:nvPr/>
        </p:nvSpPr>
        <p:spPr>
          <a:xfrm>
            <a:off x="878681" y="3049600"/>
            <a:ext cx="212403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60" name="Text 50"/>
          <p:cNvSpPr/>
          <p:nvPr/>
        </p:nvSpPr>
        <p:spPr>
          <a:xfrm>
            <a:off x="878681" y="3165686"/>
            <a:ext cx="2124038" cy="128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~$60-100K</a:t>
            </a:r>
            <a:endParaRPr lang="en-US" sz="1013" dirty="0"/>
          </a:p>
        </p:txBody>
      </p:sp>
      <p:sp>
        <p:nvSpPr>
          <p:cNvPr id="61" name="Text 51"/>
          <p:cNvSpPr/>
          <p:nvPr/>
        </p:nvSpPr>
        <p:spPr>
          <a:xfrm>
            <a:off x="878681" y="3321397"/>
            <a:ext cx="2124038" cy="97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weeks × 2 engineers</a:t>
            </a:r>
            <a:endParaRPr lang="en-US" sz="800" dirty="0"/>
          </a:p>
        </p:txBody>
      </p:sp>
      <p:sp>
        <p:nvSpPr>
          <p:cNvPr id="62" name="Text 52"/>
          <p:cNvSpPr/>
          <p:nvPr/>
        </p:nvSpPr>
        <p:spPr>
          <a:xfrm>
            <a:off x="3213460" y="2960303"/>
            <a:ext cx="2716969" cy="547836"/>
          </a:xfrm>
          <a:prstGeom prst="roundRect">
            <a:avLst>
              <a:gd name="adj" fmla="val 17387"/>
            </a:avLst>
          </a:prstGeom>
          <a:solidFill>
            <a:srgbClr val="0F172A">
              <a:alpha val="6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3"/>
          <p:cNvSpPr/>
          <p:nvPr/>
        </p:nvSpPr>
        <p:spPr>
          <a:xfrm>
            <a:off x="3334903" y="3109206"/>
            <a:ext cx="250031" cy="250031"/>
          </a:xfrm>
          <a:prstGeom prst="roundRect">
            <a:avLst>
              <a:gd name="adj" fmla="val 3428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4"/>
          <p:cNvSpPr/>
          <p:nvPr/>
        </p:nvSpPr>
        <p:spPr>
          <a:xfrm>
            <a:off x="3366693" y="314099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65" name="Text 55"/>
          <p:cNvSpPr/>
          <p:nvPr/>
        </p:nvSpPr>
        <p:spPr>
          <a:xfrm>
            <a:off x="3688519" y="3049600"/>
            <a:ext cx="212403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66" name="Text 56"/>
          <p:cNvSpPr/>
          <p:nvPr/>
        </p:nvSpPr>
        <p:spPr>
          <a:xfrm>
            <a:off x="3688519" y="3165686"/>
            <a:ext cx="2124038" cy="128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~$50-100</a:t>
            </a:r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F8FAFC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/month</a:t>
            </a:r>
            <a:endParaRPr lang="en-US" sz="1013" dirty="0"/>
          </a:p>
        </p:txBody>
      </p:sp>
      <p:sp>
        <p:nvSpPr>
          <p:cNvPr id="67" name="Text 57"/>
          <p:cNvSpPr/>
          <p:nvPr/>
        </p:nvSpPr>
        <p:spPr>
          <a:xfrm>
            <a:off x="3688519" y="3321397"/>
            <a:ext cx="2124038" cy="97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Vercel + Neon + Redis</a:t>
            </a:r>
            <a:endParaRPr lang="en-US" sz="800" dirty="0"/>
          </a:p>
        </p:txBody>
      </p:sp>
      <p:sp>
        <p:nvSpPr>
          <p:cNvPr id="68" name="Text 58"/>
          <p:cNvSpPr/>
          <p:nvPr/>
        </p:nvSpPr>
        <p:spPr>
          <a:xfrm>
            <a:off x="6023297" y="2960303"/>
            <a:ext cx="2717081" cy="547836"/>
          </a:xfrm>
          <a:prstGeom prst="roundRect">
            <a:avLst>
              <a:gd name="adj" fmla="val 17387"/>
            </a:avLst>
          </a:prstGeom>
          <a:solidFill>
            <a:srgbClr val="0F172A">
              <a:alpha val="6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59"/>
          <p:cNvSpPr/>
          <p:nvPr/>
        </p:nvSpPr>
        <p:spPr>
          <a:xfrm>
            <a:off x="6144741" y="3109206"/>
            <a:ext cx="250031" cy="250031"/>
          </a:xfrm>
          <a:prstGeom prst="roundRect">
            <a:avLst>
              <a:gd name="adj" fmla="val 3428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0"/>
          <p:cNvSpPr/>
          <p:nvPr/>
        </p:nvSpPr>
        <p:spPr>
          <a:xfrm>
            <a:off x="6176531" y="314099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71" name="Text 61"/>
          <p:cNvSpPr/>
          <p:nvPr/>
        </p:nvSpPr>
        <p:spPr>
          <a:xfrm>
            <a:off x="6498357" y="3049600"/>
            <a:ext cx="21241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API</a:t>
            </a:r>
            <a:endParaRPr lang="en-US" sz="800" dirty="0"/>
          </a:p>
        </p:txBody>
      </p:sp>
      <p:sp>
        <p:nvSpPr>
          <p:cNvPr id="72" name="Text 62"/>
          <p:cNvSpPr/>
          <p:nvPr/>
        </p:nvSpPr>
        <p:spPr>
          <a:xfrm>
            <a:off x="6498357" y="3165686"/>
            <a:ext cx="2124149" cy="128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~$66</a:t>
            </a:r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F8FAFC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/month</a:t>
            </a:r>
            <a:endParaRPr lang="en-US" sz="1013" dirty="0"/>
          </a:p>
        </p:txBody>
      </p:sp>
      <p:sp>
        <p:nvSpPr>
          <p:cNvPr id="73" name="Text 63"/>
          <p:cNvSpPr/>
          <p:nvPr/>
        </p:nvSpPr>
        <p:spPr>
          <a:xfrm>
            <a:off x="6498357" y="3321397"/>
            <a:ext cx="2233877" cy="97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5K queries/day, optimized</a:t>
            </a:r>
            <a:endParaRPr lang="en-US" sz="800" dirty="0"/>
          </a:p>
        </p:txBody>
      </p:sp>
      <p:pic>
        <p:nvPicPr>
          <p:cNvPr id="7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3511711"/>
            <a:ext cx="8343900" cy="351830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403622" y="3515283"/>
            <a:ext cx="8336756" cy="344686"/>
          </a:xfrm>
          <a:prstGeom prst="roundRect">
            <a:avLst>
              <a:gd name="adj" fmla="val 33161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65"/>
          <p:cNvSpPr/>
          <p:nvPr/>
        </p:nvSpPr>
        <p:spPr>
          <a:xfrm>
            <a:off x="550069" y="361618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406" dirty="0"/>
          </a:p>
        </p:txBody>
      </p:sp>
      <p:sp>
        <p:nvSpPr>
          <p:cNvPr id="77" name="Text 66"/>
          <p:cNvSpPr/>
          <p:nvPr/>
        </p:nvSpPr>
        <p:spPr>
          <a:xfrm>
            <a:off x="778669" y="3611724"/>
            <a:ext cx="781526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1% conversion rate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190K monthly visits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6EE7B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1,900 new users/month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6EE7B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22,800 in year 1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301823"/>
            <a:ext cx="12568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TODAY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533995"/>
            <a:ext cx="5027481" cy="288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Ship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Fixes in 1 Hour.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No Dependencies.</a:t>
            </a:r>
            <a:endParaRPr lang="en-US" sz="1913" dirty="0"/>
          </a:p>
        </p:txBody>
      </p:sp>
      <p:sp>
        <p:nvSpPr>
          <p:cNvPr id="7" name="Text 3"/>
          <p:cNvSpPr/>
          <p:nvPr/>
        </p:nvSpPr>
        <p:spPr>
          <a:xfrm>
            <a:off x="7467697" y="244959"/>
            <a:ext cx="1299113" cy="228029"/>
          </a:xfrm>
          <a:prstGeom prst="roundRect">
            <a:avLst>
              <a:gd name="adj" fmla="val 417710"/>
            </a:avLst>
          </a:prstGeom>
          <a:solidFill>
            <a:srgbClr val="34D399">
              <a:alpha val="14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712013" y="307181"/>
            <a:ext cx="946212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DAY 1 · 1 HOUR TOTAL</a:t>
            </a:r>
            <a:endParaRPr lang="en-US" sz="619" dirty="0"/>
          </a:p>
        </p:txBody>
      </p:sp>
      <p:sp>
        <p:nvSpPr>
          <p:cNvPr id="9" name="Text 5"/>
          <p:cNvSpPr/>
          <p:nvPr/>
        </p:nvSpPr>
        <p:spPr>
          <a:xfrm>
            <a:off x="7576282" y="31253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14" dirty="0"/>
          </a:p>
        </p:txBody>
      </p:sp>
      <p:sp>
        <p:nvSpPr>
          <p:cNvPr id="10" name="Text 6"/>
          <p:cNvSpPr/>
          <p:nvPr/>
        </p:nvSpPr>
        <p:spPr>
          <a:xfrm>
            <a:off x="8362876" y="517922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15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00050" y="886830"/>
            <a:ext cx="7858125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any pillar work begins, ship three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6EE7B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independent quick wins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that need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architectural changes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take </a:t>
            </a:r>
            <a:pPr algn="l" indent="0" marL="0">
              <a:lnSpc>
                <a:spcPts val="1260"/>
              </a:lnSpc>
              <a:buNone/>
            </a:pPr>
            <a:r>
              <a:rPr lang="en-US" sz="800" b="1" dirty="0">
                <a:solidFill>
                  <a:srgbClr val="6EE7B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hour total.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161083"/>
            <a:ext cx="2705026" cy="20347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3622" y="1164654"/>
            <a:ext cx="2697882" cy="2027597"/>
          </a:xfrm>
          <a:prstGeom prst="roundRect">
            <a:avLst>
              <a:gd name="adj" fmla="val 6577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41496" y="1286098"/>
            <a:ext cx="991039" cy="200025"/>
          </a:xfrm>
          <a:prstGeom prst="roundRect">
            <a:avLst>
              <a:gd name="adj" fmla="val 28571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564356" y="1296814"/>
            <a:ext cx="94531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#54 · TYPOGRAPHY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355562" y="1285777"/>
            <a:ext cx="622355" cy="206026"/>
          </a:xfrm>
          <a:prstGeom prst="roundRect">
            <a:avLst>
              <a:gd name="adj" fmla="val 462320"/>
            </a:avLst>
          </a:prstGeom>
          <a:solidFill>
            <a:srgbClr val="38BDF8">
              <a:alpha val="12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2578447" y="1339676"/>
            <a:ext cx="3766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b="1" spc="35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 MIN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2457004" y="134592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44" dirty="0"/>
          </a:p>
        </p:txBody>
      </p:sp>
      <p:sp>
        <p:nvSpPr>
          <p:cNvPr id="19" name="Text 14"/>
          <p:cNvSpPr/>
          <p:nvPr/>
        </p:nvSpPr>
        <p:spPr>
          <a:xfrm>
            <a:off x="871203" y="1573634"/>
            <a:ext cx="707789" cy="164306"/>
          </a:xfrm>
          <a:prstGeom prst="roundRect">
            <a:avLst>
              <a:gd name="adj" fmla="val 23188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64356" y="1580778"/>
            <a:ext cx="2390701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Wire </a:t>
            </a:r>
            <a:pPr algn="l" indent="0" marL="0">
              <a:lnSpc>
                <a:spcPts val="1215"/>
              </a:lnSpc>
              <a:buNone/>
            </a:pPr>
            <a:r>
              <a:rPr lang="en-US" sz="900" b="1" spc="-10" kern="0" dirty="0">
                <a:solidFill>
                  <a:srgbClr val="38BDF8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next/font</a:t>
            </a:r>
            <a:endParaRPr lang="en-US" sz="1013" dirty="0"/>
          </a:p>
        </p:txBody>
      </p:sp>
      <p:sp>
        <p:nvSpPr>
          <p:cNvPr id="21" name="Text 16"/>
          <p:cNvSpPr/>
          <p:nvPr/>
        </p:nvSpPr>
        <p:spPr>
          <a:xfrm>
            <a:off x="740718" y="1813620"/>
            <a:ext cx="511559" cy="121444"/>
          </a:xfrm>
          <a:prstGeom prst="roundRect">
            <a:avLst>
              <a:gd name="adj" fmla="val 31372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926567" y="1946449"/>
            <a:ext cx="748085" cy="121444"/>
          </a:xfrm>
          <a:prstGeom prst="roundRect">
            <a:avLst>
              <a:gd name="adj" fmla="val 31372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1993999" y="1946449"/>
            <a:ext cx="606214" cy="121444"/>
          </a:xfrm>
          <a:prstGeom prst="roundRect">
            <a:avLst>
              <a:gd name="adj" fmla="val 31372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64356" y="2079278"/>
            <a:ext cx="606214" cy="121444"/>
          </a:xfrm>
          <a:prstGeom prst="roundRect">
            <a:avLst>
              <a:gd name="adj" fmla="val 31372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1456432" y="2079278"/>
            <a:ext cx="1268574" cy="121444"/>
          </a:xfrm>
          <a:prstGeom prst="roundRect">
            <a:avLst>
              <a:gd name="adj" fmla="val 31372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64356" y="1806476"/>
            <a:ext cx="2390701" cy="47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7DD3FC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next/font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import (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Noto Sans Arabic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JetBrains Mono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to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7DD3FC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app/layout.tsx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Define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7DD3FC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--font-sans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7DD3FC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globals.css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Verify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7DD3FC"/>
                </a:solidFill>
                <a:highlight>
                  <a:srgbClr val="38BDF8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document.fonts.size === 3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67928" y="2315803"/>
            <a:ext cx="2383557" cy="376386"/>
          </a:xfrm>
          <a:prstGeom prst="roundRect">
            <a:avLst>
              <a:gd name="adj" fmla="val 20245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657225" y="23979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9" name="Text 24"/>
          <p:cNvSpPr/>
          <p:nvPr/>
        </p:nvSpPr>
        <p:spPr>
          <a:xfrm>
            <a:off x="828675" y="2516498"/>
            <a:ext cx="2040657" cy="100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Stable brand identity across all devices.</a:t>
            </a:r>
            <a:endParaRPr lang="en-US" sz="647" dirty="0"/>
          </a:p>
        </p:txBody>
      </p:sp>
      <p:sp>
        <p:nvSpPr>
          <p:cNvPr id="30" name="Text 25"/>
          <p:cNvSpPr/>
          <p:nvPr/>
        </p:nvSpPr>
        <p:spPr>
          <a:xfrm>
            <a:off x="828675" y="2390812"/>
            <a:ext cx="1993196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81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564356" y="2770770"/>
            <a:ext cx="239070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41496" y="2863925"/>
            <a:ext cx="713549" cy="178022"/>
          </a:xfrm>
          <a:prstGeom prst="roundRect">
            <a:avLst>
              <a:gd name="adj" fmla="val 21402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54888" y="2873462"/>
            <a:ext cx="88676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 BRAND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2472720" y="2832978"/>
            <a:ext cx="500888" cy="239916"/>
          </a:xfrm>
          <a:prstGeom prst="roundRect">
            <a:avLst>
              <a:gd name="adj" fmla="val 397014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2576996" y="28886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671539" y="28886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2748587" y="2888642"/>
            <a:ext cx="1382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675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376" y="1161083"/>
            <a:ext cx="2705137" cy="2034741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3222947" y="1164654"/>
            <a:ext cx="2697993" cy="2027597"/>
          </a:xfrm>
          <a:prstGeom prst="roundRect">
            <a:avLst>
              <a:gd name="adj" fmla="val 6577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3360822" y="1286098"/>
            <a:ext cx="1191734" cy="200025"/>
          </a:xfrm>
          <a:prstGeom prst="roundRect">
            <a:avLst>
              <a:gd name="adj" fmla="val 28571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3383682" y="1296814"/>
            <a:ext cx="11460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#67 · REDUCED MOTION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5226452" y="1285777"/>
            <a:ext cx="569120" cy="206026"/>
          </a:xfrm>
          <a:prstGeom prst="roundRect">
            <a:avLst>
              <a:gd name="adj" fmla="val 462320"/>
            </a:avLst>
          </a:prstGeom>
          <a:solidFill>
            <a:srgbClr val="38BDF8">
              <a:alpha val="12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5427800" y="1339676"/>
            <a:ext cx="36645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35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MIN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5326112" y="134592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44" dirty="0"/>
          </a:p>
        </p:txBody>
      </p:sp>
      <p:sp>
        <p:nvSpPr>
          <p:cNvPr id="45" name="Text 39"/>
          <p:cNvSpPr/>
          <p:nvPr/>
        </p:nvSpPr>
        <p:spPr>
          <a:xfrm>
            <a:off x="3678696" y="1573634"/>
            <a:ext cx="505197" cy="164306"/>
          </a:xfrm>
          <a:prstGeom prst="roundRect">
            <a:avLst>
              <a:gd name="adj" fmla="val 23188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3383682" y="1580778"/>
            <a:ext cx="2390812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CSS </a:t>
            </a:r>
            <a:pPr algn="l" indent="0" marL="0">
              <a:lnSpc>
                <a:spcPts val="1215"/>
              </a:lnSpc>
              <a:buNone/>
            </a:pPr>
            <a:r>
              <a:rPr lang="en-US" sz="900" b="1" spc="-10" kern="0" dirty="0">
                <a:solidFill>
                  <a:srgbClr val="38BDF8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</a:t>
            </a:r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query</a:t>
            </a:r>
            <a:endParaRPr lang="en-US" sz="1013" dirty="0"/>
          </a:p>
        </p:txBody>
      </p:sp>
      <p:sp>
        <p:nvSpPr>
          <p:cNvPr id="47" name="Text 41"/>
          <p:cNvSpPr/>
          <p:nvPr/>
        </p:nvSpPr>
        <p:spPr>
          <a:xfrm>
            <a:off x="3387254" y="1810048"/>
            <a:ext cx="2383668" cy="498611"/>
          </a:xfrm>
          <a:prstGeom prst="roundRect">
            <a:avLst>
              <a:gd name="adj" fmla="val 15282"/>
            </a:avLst>
          </a:prstGeom>
          <a:solidFill>
            <a:srgbClr val="060912">
              <a:alpha val="85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3383682" y="1806476"/>
            <a:ext cx="2390812" cy="478323"/>
          </a:xfrm>
          <a:prstGeom prst="rect">
            <a:avLst/>
          </a:prstGeom>
          <a:noFill/>
          <a:ln/>
        </p:spPr>
        <p:txBody>
          <a:bodyPr wrap="square" lIns="85725" tIns="71438" rIns="85725" bIns="71438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prefers-reduced-motion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animation-duration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0.01ms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!important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transition-duration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0.01ms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!important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3387254" y="2315803"/>
            <a:ext cx="2383668" cy="376386"/>
          </a:xfrm>
          <a:prstGeom prst="roundRect">
            <a:avLst>
              <a:gd name="adj" fmla="val 20245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3476551" y="23979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51" name="Text 45"/>
          <p:cNvSpPr/>
          <p:nvPr/>
        </p:nvSpPr>
        <p:spPr>
          <a:xfrm>
            <a:off x="3648001" y="2516498"/>
            <a:ext cx="2073956" cy="100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WCAG 2.3.3 AAA compliance, benefits of users.</a:t>
            </a:r>
            <a:endParaRPr lang="en-US" sz="647" dirty="0"/>
          </a:p>
        </p:txBody>
      </p:sp>
      <p:sp>
        <p:nvSpPr>
          <p:cNvPr id="52" name="Text 46"/>
          <p:cNvSpPr/>
          <p:nvPr/>
        </p:nvSpPr>
        <p:spPr>
          <a:xfrm>
            <a:off x="3648001" y="2390812"/>
            <a:ext cx="20336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81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5081565" y="2509354"/>
            <a:ext cx="238171" cy="107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6EE7B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35%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3383682" y="2770770"/>
            <a:ext cx="2390812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3360822" y="2863925"/>
            <a:ext cx="803404" cy="178022"/>
          </a:xfrm>
          <a:prstGeom prst="roundRect">
            <a:avLst>
              <a:gd name="adj" fmla="val 21402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3285573" y="2873462"/>
            <a:ext cx="95390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WCAG 2.3.3 AAA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5292157" y="2832978"/>
            <a:ext cx="500888" cy="239916"/>
          </a:xfrm>
          <a:prstGeom prst="roundRect">
            <a:avLst>
              <a:gd name="adj" fmla="val 397014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>
            <a:off x="5396433" y="2888642"/>
            <a:ext cx="16519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5542545" y="28886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0" name="Text 54"/>
          <p:cNvSpPr/>
          <p:nvPr/>
        </p:nvSpPr>
        <p:spPr>
          <a:xfrm>
            <a:off x="5637088" y="2888642"/>
            <a:ext cx="9144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813" y="1161083"/>
            <a:ext cx="2705026" cy="2034741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6042385" y="1164654"/>
            <a:ext cx="2697882" cy="2027597"/>
          </a:xfrm>
          <a:prstGeom prst="roundRect">
            <a:avLst>
              <a:gd name="adj" fmla="val 6577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6180259" y="1286098"/>
            <a:ext cx="1041269" cy="200025"/>
          </a:xfrm>
          <a:prstGeom prst="roundRect">
            <a:avLst>
              <a:gd name="adj" fmla="val 28571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7"/>
          <p:cNvSpPr/>
          <p:nvPr/>
        </p:nvSpPr>
        <p:spPr>
          <a:xfrm>
            <a:off x="6203119" y="1296814"/>
            <a:ext cx="99554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#62 · ICON LABELS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7994325" y="1285777"/>
            <a:ext cx="622355" cy="206026"/>
          </a:xfrm>
          <a:prstGeom prst="roundRect">
            <a:avLst>
              <a:gd name="adj" fmla="val 462320"/>
            </a:avLst>
          </a:prstGeom>
          <a:solidFill>
            <a:srgbClr val="38BDF8">
              <a:alpha val="12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9"/>
          <p:cNvSpPr/>
          <p:nvPr/>
        </p:nvSpPr>
        <p:spPr>
          <a:xfrm>
            <a:off x="8217210" y="1339676"/>
            <a:ext cx="3766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b="1" spc="35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 MIN</a:t>
            </a:r>
            <a:endParaRPr lang="en-US" sz="600" dirty="0"/>
          </a:p>
        </p:txBody>
      </p:sp>
      <p:sp>
        <p:nvSpPr>
          <p:cNvPr id="67" name="Text 60"/>
          <p:cNvSpPr/>
          <p:nvPr/>
        </p:nvSpPr>
        <p:spPr>
          <a:xfrm>
            <a:off x="8095766" y="134592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44" dirty="0"/>
          </a:p>
        </p:txBody>
      </p:sp>
      <p:sp>
        <p:nvSpPr>
          <p:cNvPr id="68" name="Text 61"/>
          <p:cNvSpPr/>
          <p:nvPr/>
        </p:nvSpPr>
        <p:spPr>
          <a:xfrm>
            <a:off x="6483734" y="1573634"/>
            <a:ext cx="775320" cy="164306"/>
          </a:xfrm>
          <a:prstGeom prst="roundRect">
            <a:avLst>
              <a:gd name="adj" fmla="val 23188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2"/>
          <p:cNvSpPr/>
          <p:nvPr/>
        </p:nvSpPr>
        <p:spPr>
          <a:xfrm>
            <a:off x="6203119" y="1580778"/>
            <a:ext cx="2390701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</a:t>
            </a:r>
            <a:pPr algn="l" indent="0" marL="0">
              <a:lnSpc>
                <a:spcPts val="1215"/>
              </a:lnSpc>
              <a:buNone/>
            </a:pPr>
            <a:r>
              <a:rPr lang="en-US" sz="900" b="1" spc="-10" kern="0" dirty="0">
                <a:solidFill>
                  <a:srgbClr val="38BDF8"/>
                </a:solidFill>
                <a:highlight>
                  <a:srgbClr val="38B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</a:t>
            </a:r>
            <a:endParaRPr lang="en-US" sz="1013" dirty="0"/>
          </a:p>
        </p:txBody>
      </p:sp>
      <p:sp>
        <p:nvSpPr>
          <p:cNvPr id="70" name="Text 63"/>
          <p:cNvSpPr/>
          <p:nvPr/>
        </p:nvSpPr>
        <p:spPr>
          <a:xfrm>
            <a:off x="6357125" y="1806333"/>
            <a:ext cx="603598" cy="136017"/>
          </a:xfrm>
          <a:prstGeom prst="roundRect">
            <a:avLst>
              <a:gd name="adj" fmla="val 28011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4"/>
          <p:cNvSpPr/>
          <p:nvPr/>
        </p:nvSpPr>
        <p:spPr>
          <a:xfrm>
            <a:off x="6333631" y="1813620"/>
            <a:ext cx="65058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</a:t>
            </a:r>
            <a:endParaRPr lang="en-US" sz="800" dirty="0"/>
          </a:p>
        </p:txBody>
      </p:sp>
      <p:sp>
        <p:nvSpPr>
          <p:cNvPr id="72" name="Text 65"/>
          <p:cNvSpPr/>
          <p:nvPr/>
        </p:nvSpPr>
        <p:spPr>
          <a:xfrm>
            <a:off x="7057579" y="1820763"/>
            <a:ext cx="92659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icon-only buttons</a:t>
            </a:r>
            <a:endParaRPr lang="en-US" sz="675" dirty="0"/>
          </a:p>
        </p:txBody>
      </p:sp>
      <p:sp>
        <p:nvSpPr>
          <p:cNvPr id="73" name="Text 66"/>
          <p:cNvSpPr/>
          <p:nvPr/>
        </p:nvSpPr>
        <p:spPr>
          <a:xfrm>
            <a:off x="6203119" y="1987239"/>
            <a:ext cx="501402" cy="172022"/>
          </a:xfrm>
          <a:prstGeom prst="roundRect">
            <a:avLst>
              <a:gd name="adj" fmla="val 22148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7"/>
          <p:cNvSpPr/>
          <p:nvPr/>
        </p:nvSpPr>
        <p:spPr>
          <a:xfrm>
            <a:off x="6149508" y="1996455"/>
            <a:ext cx="6086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Botanique</a:t>
            </a:r>
            <a:endParaRPr lang="en-US" sz="800" dirty="0"/>
          </a:p>
        </p:txBody>
      </p:sp>
      <p:sp>
        <p:nvSpPr>
          <p:cNvPr id="75" name="Text 68"/>
          <p:cNvSpPr/>
          <p:nvPr/>
        </p:nvSpPr>
        <p:spPr>
          <a:xfrm>
            <a:off x="6747383" y="1987239"/>
            <a:ext cx="458428" cy="172022"/>
          </a:xfrm>
          <a:prstGeom prst="roundRect">
            <a:avLst>
              <a:gd name="adj" fmla="val 22148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69"/>
          <p:cNvSpPr/>
          <p:nvPr/>
        </p:nvSpPr>
        <p:spPr>
          <a:xfrm>
            <a:off x="6703456" y="1996455"/>
            <a:ext cx="54628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Nuancier</a:t>
            </a:r>
            <a:endParaRPr lang="en-US" sz="800" dirty="0"/>
          </a:p>
        </p:txBody>
      </p:sp>
      <p:sp>
        <p:nvSpPr>
          <p:cNvPr id="77" name="Text 70"/>
          <p:cNvSpPr/>
          <p:nvPr/>
        </p:nvSpPr>
        <p:spPr>
          <a:xfrm>
            <a:off x="7248674" y="1987239"/>
            <a:ext cx="458428" cy="172022"/>
          </a:xfrm>
          <a:prstGeom prst="roundRect">
            <a:avLst>
              <a:gd name="adj" fmla="val 22148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1"/>
          <p:cNvSpPr/>
          <p:nvPr/>
        </p:nvSpPr>
        <p:spPr>
          <a:xfrm>
            <a:off x="7204746" y="1996455"/>
            <a:ext cx="54628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Copilote</a:t>
            </a:r>
            <a:endParaRPr lang="en-US" sz="800" dirty="0"/>
          </a:p>
        </p:txBody>
      </p:sp>
      <p:sp>
        <p:nvSpPr>
          <p:cNvPr id="79" name="Text 72"/>
          <p:cNvSpPr/>
          <p:nvPr/>
        </p:nvSpPr>
        <p:spPr>
          <a:xfrm>
            <a:off x="7749964" y="1987239"/>
            <a:ext cx="630436" cy="172022"/>
          </a:xfrm>
          <a:prstGeom prst="roundRect">
            <a:avLst>
              <a:gd name="adj" fmla="val 22148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3"/>
          <p:cNvSpPr/>
          <p:nvPr/>
        </p:nvSpPr>
        <p:spPr>
          <a:xfrm>
            <a:off x="7687738" y="1996455"/>
            <a:ext cx="75488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 toggle</a:t>
            </a:r>
            <a:endParaRPr lang="en-US" sz="800" dirty="0"/>
          </a:p>
        </p:txBody>
      </p:sp>
      <p:sp>
        <p:nvSpPr>
          <p:cNvPr id="81" name="Text 74"/>
          <p:cNvSpPr/>
          <p:nvPr/>
        </p:nvSpPr>
        <p:spPr>
          <a:xfrm>
            <a:off x="6206691" y="2315803"/>
            <a:ext cx="2383557" cy="376386"/>
          </a:xfrm>
          <a:prstGeom prst="roundRect">
            <a:avLst>
              <a:gd name="adj" fmla="val 20245"/>
            </a:avLst>
          </a:prstGeom>
          <a:solidFill>
            <a:srgbClr val="34D399">
              <a:alpha val="8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5"/>
          <p:cNvSpPr/>
          <p:nvPr/>
        </p:nvSpPr>
        <p:spPr>
          <a:xfrm>
            <a:off x="6295988" y="23979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83" name="Text 76"/>
          <p:cNvSpPr/>
          <p:nvPr/>
        </p:nvSpPr>
        <p:spPr>
          <a:xfrm>
            <a:off x="6467438" y="2516498"/>
            <a:ext cx="2033513" cy="100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WCAG 4.1.2 compliance.</a:t>
            </a:r>
            <a:endParaRPr lang="en-US" sz="800" dirty="0"/>
          </a:p>
        </p:txBody>
      </p:sp>
      <p:sp>
        <p:nvSpPr>
          <p:cNvPr id="84" name="Text 77"/>
          <p:cNvSpPr/>
          <p:nvPr/>
        </p:nvSpPr>
        <p:spPr>
          <a:xfrm>
            <a:off x="6467438" y="2390812"/>
            <a:ext cx="1273962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b="1" spc="81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85" name="Shape 78"/>
          <p:cNvSpPr/>
          <p:nvPr/>
        </p:nvSpPr>
        <p:spPr>
          <a:xfrm>
            <a:off x="6203119" y="2770770"/>
            <a:ext cx="239070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86" name="Text 79"/>
          <p:cNvSpPr/>
          <p:nvPr/>
        </p:nvSpPr>
        <p:spPr>
          <a:xfrm>
            <a:off x="6180259" y="2863925"/>
            <a:ext cx="623694" cy="178022"/>
          </a:xfrm>
          <a:prstGeom prst="roundRect">
            <a:avLst>
              <a:gd name="adj" fmla="val 21402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0"/>
          <p:cNvSpPr/>
          <p:nvPr/>
        </p:nvSpPr>
        <p:spPr>
          <a:xfrm>
            <a:off x="6143435" y="2873462"/>
            <a:ext cx="6973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32" kern="0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WCAG 4.1.2</a:t>
            </a:r>
            <a:endParaRPr lang="en-US" sz="800" dirty="0"/>
          </a:p>
        </p:txBody>
      </p:sp>
      <p:sp>
        <p:nvSpPr>
          <p:cNvPr id="88" name="Text 81"/>
          <p:cNvSpPr/>
          <p:nvPr/>
        </p:nvSpPr>
        <p:spPr>
          <a:xfrm>
            <a:off x="8165114" y="2832978"/>
            <a:ext cx="445194" cy="239916"/>
          </a:xfrm>
          <a:prstGeom prst="roundRect">
            <a:avLst>
              <a:gd name="adj" fmla="val 397014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2"/>
          <p:cNvSpPr/>
          <p:nvPr/>
        </p:nvSpPr>
        <p:spPr>
          <a:xfrm>
            <a:off x="8267328" y="28886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00" dirty="0"/>
          </a:p>
        </p:txBody>
      </p:sp>
      <p:sp>
        <p:nvSpPr>
          <p:cNvPr id="90" name="Text 83"/>
          <p:cNvSpPr/>
          <p:nvPr/>
        </p:nvSpPr>
        <p:spPr>
          <a:xfrm>
            <a:off x="8361871" y="28886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91" name="Text 84"/>
          <p:cNvSpPr/>
          <p:nvPr/>
        </p:nvSpPr>
        <p:spPr>
          <a:xfrm>
            <a:off x="8456414" y="2888642"/>
            <a:ext cx="9144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pic>
        <p:nvPicPr>
          <p:cNvPr id="9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3281549"/>
            <a:ext cx="8343900" cy="337542"/>
          </a:xfrm>
          <a:prstGeom prst="rect">
            <a:avLst/>
          </a:prstGeom>
        </p:spPr>
      </p:pic>
      <p:sp>
        <p:nvSpPr>
          <p:cNvPr id="93" name="Text 85"/>
          <p:cNvSpPr/>
          <p:nvPr/>
        </p:nvSpPr>
        <p:spPr>
          <a:xfrm>
            <a:off x="403622" y="3285120"/>
            <a:ext cx="8336756" cy="330398"/>
          </a:xfrm>
          <a:prstGeom prst="roundRect">
            <a:avLst>
              <a:gd name="adj" fmla="val 34595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86"/>
          <p:cNvSpPr/>
          <p:nvPr/>
        </p:nvSpPr>
        <p:spPr>
          <a:xfrm>
            <a:off x="550069" y="337888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406" dirty="0"/>
          </a:p>
        </p:txBody>
      </p:sp>
      <p:sp>
        <p:nvSpPr>
          <p:cNvPr id="95" name="Text 87"/>
          <p:cNvSpPr/>
          <p:nvPr/>
        </p:nvSpPr>
        <p:spPr>
          <a:xfrm>
            <a:off x="778669" y="3374417"/>
            <a:ext cx="781526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6EE7B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hour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work.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features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go from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C/C+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Brand identity becomes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stable.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" y="301823"/>
            <a:ext cx="11713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TRAJECTORY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533995"/>
            <a:ext cx="3104099" cy="282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pPr algn="l" indent="0" marL="0">
              <a:lnSpc>
                <a:spcPts val="2104"/>
              </a:lnSpc>
              <a:buNone/>
            </a:pPr>
            <a:r>
              <a:rPr lang="en-US" sz="1913" b="1" spc="-38" kern="0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in 13 Weeks</a:t>
            </a:r>
            <a:endParaRPr lang="en-US" sz="1913" dirty="0"/>
          </a:p>
        </p:txBody>
      </p:sp>
      <p:sp>
        <p:nvSpPr>
          <p:cNvPr id="7" name="Text 3"/>
          <p:cNvSpPr/>
          <p:nvPr/>
        </p:nvSpPr>
        <p:spPr>
          <a:xfrm>
            <a:off x="400050" y="843967"/>
            <a:ext cx="29562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grade milestones · grade distribution shift across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68 features</a:t>
            </a:r>
            <a:endParaRPr lang="en-US" sz="703" dirty="0"/>
          </a:p>
        </p:txBody>
      </p:sp>
      <p:sp>
        <p:nvSpPr>
          <p:cNvPr id="8" name="Text 4"/>
          <p:cNvSpPr/>
          <p:nvPr/>
        </p:nvSpPr>
        <p:spPr>
          <a:xfrm>
            <a:off x="7562240" y="244959"/>
            <a:ext cx="1204570" cy="228029"/>
          </a:xfrm>
          <a:prstGeom prst="roundRect">
            <a:avLst>
              <a:gd name="adj" fmla="val 417710"/>
            </a:avLst>
          </a:prstGeom>
          <a:solidFill>
            <a:srgbClr val="34D399">
              <a:alpha val="14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806556" y="307181"/>
            <a:ext cx="85166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B- → A+ · 13 WEEKS</a:t>
            </a:r>
            <a:endParaRPr lang="en-US" sz="619" dirty="0"/>
          </a:p>
        </p:txBody>
      </p:sp>
      <p:sp>
        <p:nvSpPr>
          <p:cNvPr id="10" name="Text 6"/>
          <p:cNvSpPr/>
          <p:nvPr/>
        </p:nvSpPr>
        <p:spPr>
          <a:xfrm>
            <a:off x="7670825" y="31253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14" dirty="0"/>
          </a:p>
        </p:txBody>
      </p:sp>
      <p:sp>
        <p:nvSpPr>
          <p:cNvPr id="11" name="Text 7"/>
          <p:cNvSpPr/>
          <p:nvPr/>
        </p:nvSpPr>
        <p:spPr>
          <a:xfrm>
            <a:off x="8362876" y="517922"/>
            <a:ext cx="5611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15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00050" y="1092212"/>
            <a:ext cx="8636000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GRADE PROGRESSION · 8 MILESTONES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03622" y="1274378"/>
            <a:ext cx="875556" cy="921544"/>
          </a:xfrm>
          <a:prstGeom prst="roundRect">
            <a:avLst>
              <a:gd name="adj" fmla="val 13055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41484" y="1350873"/>
            <a:ext cx="799832" cy="261347"/>
          </a:xfrm>
          <a:prstGeom prst="roundRect">
            <a:avLst>
              <a:gd name="adj" fmla="val 14578"/>
            </a:avLst>
          </a:prstGeom>
          <a:solidFill>
            <a:srgbClr val="FB923C">
              <a:alpha val="12000"/>
            </a:srgbClr>
          </a:solidFill>
          <a:ln w="7144">
            <a:solidFill>
              <a:srgbClr val="FB923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64344" y="1363675"/>
            <a:ext cx="754112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FB92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0 · CURRENT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91672" y="1656569"/>
            <a:ext cx="499455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</a:t>
            </a:r>
            <a:endParaRPr lang="en-US" sz="2138" dirty="0"/>
          </a:p>
        </p:txBody>
      </p:sp>
      <p:sp>
        <p:nvSpPr>
          <p:cNvPr id="17" name="Text 13"/>
          <p:cNvSpPr/>
          <p:nvPr/>
        </p:nvSpPr>
        <p:spPr>
          <a:xfrm>
            <a:off x="464344" y="1985181"/>
            <a:ext cx="75411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Baseline — 68 features audited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325612" y="1649425"/>
            <a:ext cx="974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469492" y="1274378"/>
            <a:ext cx="875667" cy="921544"/>
          </a:xfrm>
          <a:prstGeom prst="roundRect">
            <a:avLst>
              <a:gd name="adj" fmla="val 13053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1699315" y="1355317"/>
            <a:ext cx="416021" cy="156020"/>
          </a:xfrm>
          <a:prstGeom prst="roundRect">
            <a:avLst>
              <a:gd name="adj" fmla="val 24420"/>
            </a:avLst>
          </a:prstGeom>
          <a:solidFill>
            <a:srgbClr val="94A3B8">
              <a:alpha val="1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1686935" y="1363675"/>
            <a:ext cx="440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1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782406" y="1560128"/>
            <a:ext cx="249728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138" dirty="0"/>
          </a:p>
        </p:txBody>
      </p:sp>
      <p:sp>
        <p:nvSpPr>
          <p:cNvPr id="23" name="Text 19"/>
          <p:cNvSpPr/>
          <p:nvPr/>
        </p:nvSpPr>
        <p:spPr>
          <a:xfrm>
            <a:off x="1673423" y="1888741"/>
            <a:ext cx="467804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 quick wins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391594" y="1649425"/>
            <a:ext cx="974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2535473" y="1274378"/>
            <a:ext cx="875556" cy="921544"/>
          </a:xfrm>
          <a:prstGeom prst="roundRect">
            <a:avLst>
              <a:gd name="adj" fmla="val 13055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2765185" y="1355317"/>
            <a:ext cx="416021" cy="156020"/>
          </a:xfrm>
          <a:prstGeom prst="roundRect">
            <a:avLst>
              <a:gd name="adj" fmla="val 24420"/>
            </a:avLst>
          </a:prstGeom>
          <a:solidFill>
            <a:srgbClr val="94A3B8">
              <a:alpha val="1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2752805" y="1363675"/>
            <a:ext cx="440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2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2723523" y="1560128"/>
            <a:ext cx="499455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B+</a:t>
            </a:r>
            <a:endParaRPr lang="en-US" sz="2138" dirty="0"/>
          </a:p>
        </p:txBody>
      </p:sp>
      <p:sp>
        <p:nvSpPr>
          <p:cNvPr id="29" name="Text 25"/>
          <p:cNvSpPr/>
          <p:nvPr/>
        </p:nvSpPr>
        <p:spPr>
          <a:xfrm>
            <a:off x="2658145" y="1888741"/>
            <a:ext cx="63010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after routing Phase 1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457463" y="1649425"/>
            <a:ext cx="974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601343" y="1274378"/>
            <a:ext cx="875556" cy="921544"/>
          </a:xfrm>
          <a:prstGeom prst="roundRect">
            <a:avLst>
              <a:gd name="adj" fmla="val 13055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831055" y="1355317"/>
            <a:ext cx="416021" cy="156020"/>
          </a:xfrm>
          <a:prstGeom prst="roundRect">
            <a:avLst>
              <a:gd name="adj" fmla="val 24420"/>
            </a:avLst>
          </a:prstGeom>
          <a:solidFill>
            <a:srgbClr val="94A3B8">
              <a:alpha val="1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3818674" y="1363675"/>
            <a:ext cx="440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4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789393" y="1560128"/>
            <a:ext cx="499455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2138" dirty="0"/>
          </a:p>
        </p:txBody>
      </p:sp>
      <p:sp>
        <p:nvSpPr>
          <p:cNvPr id="35" name="Text 31"/>
          <p:cNvSpPr/>
          <p:nvPr/>
        </p:nvSpPr>
        <p:spPr>
          <a:xfrm>
            <a:off x="3662065" y="1888741"/>
            <a:ext cx="75411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routing complete + state fixes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523333" y="1649425"/>
            <a:ext cx="974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4667213" y="1274378"/>
            <a:ext cx="875556" cy="921544"/>
          </a:xfrm>
          <a:prstGeom prst="roundRect">
            <a:avLst>
              <a:gd name="adj" fmla="val 13055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896925" y="1355317"/>
            <a:ext cx="416021" cy="156020"/>
          </a:xfrm>
          <a:prstGeom prst="roundRect">
            <a:avLst>
              <a:gd name="adj" fmla="val 24420"/>
            </a:avLst>
          </a:prstGeom>
          <a:solidFill>
            <a:srgbClr val="94A3B8">
              <a:alpha val="1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4884544" y="1363675"/>
            <a:ext cx="440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6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855263" y="1560128"/>
            <a:ext cx="499455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2138" dirty="0"/>
          </a:p>
        </p:txBody>
      </p:sp>
      <p:sp>
        <p:nvSpPr>
          <p:cNvPr id="41" name="Text 37"/>
          <p:cNvSpPr/>
          <p:nvPr/>
        </p:nvSpPr>
        <p:spPr>
          <a:xfrm>
            <a:off x="4727935" y="1888741"/>
            <a:ext cx="75411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auth Phase 1-2 + copilot streaming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589203" y="1649425"/>
            <a:ext cx="974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5733083" y="1274378"/>
            <a:ext cx="875556" cy="921544"/>
          </a:xfrm>
          <a:prstGeom prst="roundRect">
            <a:avLst>
              <a:gd name="adj" fmla="val 13055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5962794" y="1355317"/>
            <a:ext cx="416021" cy="156020"/>
          </a:xfrm>
          <a:prstGeom prst="roundRect">
            <a:avLst>
              <a:gd name="adj" fmla="val 24420"/>
            </a:avLst>
          </a:prstGeom>
          <a:solidFill>
            <a:srgbClr val="94A3B8">
              <a:alpha val="1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950414" y="1363675"/>
            <a:ext cx="440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8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6045997" y="1560128"/>
            <a:ext cx="249728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138" dirty="0"/>
          </a:p>
        </p:txBody>
      </p:sp>
      <p:sp>
        <p:nvSpPr>
          <p:cNvPr id="47" name="Text 43"/>
          <p:cNvSpPr/>
          <p:nvPr/>
        </p:nvSpPr>
        <p:spPr>
          <a:xfrm>
            <a:off x="5793804" y="1888741"/>
            <a:ext cx="75411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complete + copilot complete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6655073" y="1649425"/>
            <a:ext cx="974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6798952" y="1274378"/>
            <a:ext cx="875556" cy="921544"/>
          </a:xfrm>
          <a:prstGeom prst="roundRect">
            <a:avLst>
              <a:gd name="adj" fmla="val 13055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7004313" y="1355317"/>
            <a:ext cx="464723" cy="156020"/>
          </a:xfrm>
          <a:prstGeom prst="roundRect">
            <a:avLst>
              <a:gd name="adj" fmla="val 24420"/>
            </a:avLst>
          </a:prstGeom>
          <a:solidFill>
            <a:srgbClr val="94A3B8">
              <a:alpha val="1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6979119" y="1363675"/>
            <a:ext cx="5151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10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7111867" y="1560128"/>
            <a:ext cx="249728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138" dirty="0"/>
          </a:p>
        </p:txBody>
      </p:sp>
      <p:sp>
        <p:nvSpPr>
          <p:cNvPr id="53" name="Text 49"/>
          <p:cNvSpPr/>
          <p:nvPr/>
        </p:nvSpPr>
        <p:spPr>
          <a:xfrm>
            <a:off x="6903765" y="1888741"/>
            <a:ext cx="66582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state + color complete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7720943" y="1649425"/>
            <a:ext cx="974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7864822" y="1274378"/>
            <a:ext cx="875556" cy="921544"/>
          </a:xfrm>
          <a:prstGeom prst="roundRect">
            <a:avLst>
              <a:gd name="adj" fmla="val 13055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8070183" y="1355317"/>
            <a:ext cx="464723" cy="156020"/>
          </a:xfrm>
          <a:prstGeom prst="roundRect">
            <a:avLst>
              <a:gd name="adj" fmla="val 24420"/>
            </a:avLst>
          </a:prstGeom>
          <a:solidFill>
            <a:srgbClr val="34D399">
              <a:alpha val="14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8044988" y="1363675"/>
            <a:ext cx="5151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13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8052873" y="1560128"/>
            <a:ext cx="499455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</a:t>
            </a:r>
            <a:endParaRPr lang="en-US" sz="2138" dirty="0"/>
          </a:p>
        </p:txBody>
      </p:sp>
      <p:sp>
        <p:nvSpPr>
          <p:cNvPr id="59" name="Text 55"/>
          <p:cNvSpPr/>
          <p:nvPr/>
        </p:nvSpPr>
        <p:spPr>
          <a:xfrm>
            <a:off x="8157270" y="1888741"/>
            <a:ext cx="2905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rollout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400050" y="2313794"/>
            <a:ext cx="71400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DISTRIBUTION SHIFT · 68 FEATURES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7554404" y="2316473"/>
            <a:ext cx="14356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86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BEFORE → AFTER 13 WEEKS</a:t>
            </a:r>
            <a:endParaRPr lang="en-US" sz="600" dirty="0"/>
          </a:p>
        </p:txBody>
      </p:sp>
      <p:sp>
        <p:nvSpPr>
          <p:cNvPr id="62" name="Text 58"/>
          <p:cNvSpPr/>
          <p:nvPr/>
        </p:nvSpPr>
        <p:spPr>
          <a:xfrm>
            <a:off x="403622" y="2495959"/>
            <a:ext cx="1323938" cy="778669"/>
          </a:xfrm>
          <a:prstGeom prst="roundRect">
            <a:avLst>
              <a:gd name="adj" fmla="val 14679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507206" y="2585256"/>
            <a:ext cx="104365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A/A+</a:t>
            </a:r>
            <a:endParaRPr lang="en-US" sz="1013" dirty="0"/>
          </a:p>
        </p:txBody>
      </p:sp>
      <p:sp>
        <p:nvSpPr>
          <p:cNvPr id="64" name="Text 60"/>
          <p:cNvSpPr/>
          <p:nvPr/>
        </p:nvSpPr>
        <p:spPr>
          <a:xfrm>
            <a:off x="1572295" y="258525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800" dirty="0"/>
          </a:p>
        </p:txBody>
      </p:sp>
      <p:sp>
        <p:nvSpPr>
          <p:cNvPr id="65" name="Text 61"/>
          <p:cNvSpPr/>
          <p:nvPr/>
        </p:nvSpPr>
        <p:spPr>
          <a:xfrm>
            <a:off x="507206" y="2763850"/>
            <a:ext cx="442354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970992" y="275670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1386755" y="2763850"/>
            <a:ext cx="267942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25+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507206" y="29567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664369" y="2985306"/>
            <a:ext cx="959607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664369" y="2985306"/>
            <a:ext cx="307070" cy="28575"/>
          </a:xfrm>
          <a:prstGeom prst="roundRect">
            <a:avLst>
              <a:gd name="adj" fmla="val 3333333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507206" y="3063887"/>
            <a:ext cx="20574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72" name="Text 68"/>
          <p:cNvSpPr/>
          <p:nvPr/>
        </p:nvSpPr>
        <p:spPr>
          <a:xfrm>
            <a:off x="664369" y="3092462"/>
            <a:ext cx="959607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9"/>
          <p:cNvSpPr/>
          <p:nvPr/>
        </p:nvSpPr>
        <p:spPr>
          <a:xfrm>
            <a:off x="664369" y="3092462"/>
            <a:ext cx="959607" cy="28575"/>
          </a:xfrm>
          <a:prstGeom prst="roundRect">
            <a:avLst>
              <a:gd name="adj" fmla="val 333333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1806141" y="2495959"/>
            <a:ext cx="1323938" cy="778669"/>
          </a:xfrm>
          <a:prstGeom prst="roundRect">
            <a:avLst>
              <a:gd name="adj" fmla="val 14679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1909725" y="2585256"/>
            <a:ext cx="104365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</a:t>
            </a:r>
            <a:endParaRPr lang="en-US" sz="1013" dirty="0"/>
          </a:p>
        </p:txBody>
      </p:sp>
      <p:sp>
        <p:nvSpPr>
          <p:cNvPr id="76" name="Text 72"/>
          <p:cNvSpPr/>
          <p:nvPr/>
        </p:nvSpPr>
        <p:spPr>
          <a:xfrm>
            <a:off x="2974814" y="258525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1909725" y="2763850"/>
            <a:ext cx="476734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900" dirty="0"/>
          </a:p>
        </p:txBody>
      </p:sp>
      <p:sp>
        <p:nvSpPr>
          <p:cNvPr id="78" name="Text 74"/>
          <p:cNvSpPr/>
          <p:nvPr/>
        </p:nvSpPr>
        <p:spPr>
          <a:xfrm>
            <a:off x="2407890" y="275670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79" name="Text 75"/>
          <p:cNvSpPr/>
          <p:nvPr/>
        </p:nvSpPr>
        <p:spPr>
          <a:xfrm>
            <a:off x="2789274" y="2763850"/>
            <a:ext cx="267942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EE7B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20+</a:t>
            </a:r>
            <a:endParaRPr lang="en-US" sz="900" dirty="0"/>
          </a:p>
        </p:txBody>
      </p:sp>
      <p:sp>
        <p:nvSpPr>
          <p:cNvPr id="80" name="Text 76"/>
          <p:cNvSpPr/>
          <p:nvPr/>
        </p:nvSpPr>
        <p:spPr>
          <a:xfrm>
            <a:off x="1909725" y="29567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81" name="Text 77"/>
          <p:cNvSpPr/>
          <p:nvPr/>
        </p:nvSpPr>
        <p:spPr>
          <a:xfrm>
            <a:off x="2066888" y="2985306"/>
            <a:ext cx="959607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8"/>
          <p:cNvSpPr/>
          <p:nvPr/>
        </p:nvSpPr>
        <p:spPr>
          <a:xfrm>
            <a:off x="2066888" y="2985306"/>
            <a:ext cx="460549" cy="28575"/>
          </a:xfrm>
          <a:prstGeom prst="roundRect">
            <a:avLst>
              <a:gd name="adj" fmla="val 3333333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79"/>
          <p:cNvSpPr/>
          <p:nvPr/>
        </p:nvSpPr>
        <p:spPr>
          <a:xfrm>
            <a:off x="1909725" y="3063887"/>
            <a:ext cx="20574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84" name="Text 80"/>
          <p:cNvSpPr/>
          <p:nvPr/>
        </p:nvSpPr>
        <p:spPr>
          <a:xfrm>
            <a:off x="2066888" y="3092462"/>
            <a:ext cx="959607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1"/>
          <p:cNvSpPr/>
          <p:nvPr/>
        </p:nvSpPr>
        <p:spPr>
          <a:xfrm>
            <a:off x="2066888" y="3092462"/>
            <a:ext cx="767618" cy="28575"/>
          </a:xfrm>
          <a:prstGeom prst="roundRect">
            <a:avLst>
              <a:gd name="adj" fmla="val 3333333"/>
            </a:avLst>
          </a:prstGeom>
          <a:solidFill>
            <a:srgbClr val="6EE7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2"/>
          <p:cNvSpPr/>
          <p:nvPr/>
        </p:nvSpPr>
        <p:spPr>
          <a:xfrm>
            <a:off x="3208660" y="2495959"/>
            <a:ext cx="1323938" cy="778669"/>
          </a:xfrm>
          <a:prstGeom prst="roundRect">
            <a:avLst>
              <a:gd name="adj" fmla="val 14679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3"/>
          <p:cNvSpPr/>
          <p:nvPr/>
        </p:nvSpPr>
        <p:spPr>
          <a:xfrm>
            <a:off x="3312244" y="2585256"/>
            <a:ext cx="104365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B+/B</a:t>
            </a:r>
            <a:endParaRPr lang="en-US" sz="1013" dirty="0"/>
          </a:p>
        </p:txBody>
      </p:sp>
      <p:sp>
        <p:nvSpPr>
          <p:cNvPr id="88" name="Text 84"/>
          <p:cNvSpPr/>
          <p:nvPr/>
        </p:nvSpPr>
        <p:spPr>
          <a:xfrm>
            <a:off x="4377333" y="2585256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800" dirty="0"/>
          </a:p>
        </p:txBody>
      </p:sp>
      <p:sp>
        <p:nvSpPr>
          <p:cNvPr id="89" name="Text 85"/>
          <p:cNvSpPr/>
          <p:nvPr/>
        </p:nvSpPr>
        <p:spPr>
          <a:xfrm>
            <a:off x="3312244" y="2763850"/>
            <a:ext cx="476734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900" dirty="0"/>
          </a:p>
        </p:txBody>
      </p:sp>
      <p:sp>
        <p:nvSpPr>
          <p:cNvPr id="90" name="Text 86"/>
          <p:cNvSpPr/>
          <p:nvPr/>
        </p:nvSpPr>
        <p:spPr>
          <a:xfrm>
            <a:off x="3810409" y="275670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91" name="Text 87"/>
          <p:cNvSpPr/>
          <p:nvPr/>
        </p:nvSpPr>
        <p:spPr>
          <a:xfrm>
            <a:off x="4191793" y="2763850"/>
            <a:ext cx="267942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15+</a:t>
            </a:r>
            <a:endParaRPr lang="en-US" sz="900" dirty="0"/>
          </a:p>
        </p:txBody>
      </p:sp>
      <p:sp>
        <p:nvSpPr>
          <p:cNvPr id="92" name="Text 88"/>
          <p:cNvSpPr/>
          <p:nvPr/>
        </p:nvSpPr>
        <p:spPr>
          <a:xfrm>
            <a:off x="3312244" y="29567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93" name="Text 89"/>
          <p:cNvSpPr/>
          <p:nvPr/>
        </p:nvSpPr>
        <p:spPr>
          <a:xfrm>
            <a:off x="3469407" y="2985306"/>
            <a:ext cx="959607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0"/>
          <p:cNvSpPr/>
          <p:nvPr/>
        </p:nvSpPr>
        <p:spPr>
          <a:xfrm>
            <a:off x="3469407" y="2985306"/>
            <a:ext cx="575742" cy="28575"/>
          </a:xfrm>
          <a:prstGeom prst="roundRect">
            <a:avLst>
              <a:gd name="adj" fmla="val 3333333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1"/>
          <p:cNvSpPr/>
          <p:nvPr/>
        </p:nvSpPr>
        <p:spPr>
          <a:xfrm>
            <a:off x="3312244" y="3063887"/>
            <a:ext cx="20574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3469407" y="3092462"/>
            <a:ext cx="959607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3"/>
          <p:cNvSpPr/>
          <p:nvPr/>
        </p:nvSpPr>
        <p:spPr>
          <a:xfrm>
            <a:off x="3469407" y="3092462"/>
            <a:ext cx="575742" cy="28575"/>
          </a:xfrm>
          <a:prstGeom prst="roundRect">
            <a:avLst>
              <a:gd name="adj" fmla="val 3333333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4"/>
          <p:cNvSpPr/>
          <p:nvPr/>
        </p:nvSpPr>
        <p:spPr>
          <a:xfrm>
            <a:off x="4611179" y="2495959"/>
            <a:ext cx="1324049" cy="778669"/>
          </a:xfrm>
          <a:prstGeom prst="roundRect">
            <a:avLst>
              <a:gd name="adj" fmla="val 14679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5"/>
          <p:cNvSpPr/>
          <p:nvPr/>
        </p:nvSpPr>
        <p:spPr>
          <a:xfrm>
            <a:off x="4714763" y="2585256"/>
            <a:ext cx="1043769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B-/C+</a:t>
            </a:r>
            <a:endParaRPr lang="en-US" sz="1013" dirty="0"/>
          </a:p>
        </p:txBody>
      </p:sp>
      <p:sp>
        <p:nvSpPr>
          <p:cNvPr id="100" name="Text 96"/>
          <p:cNvSpPr/>
          <p:nvPr/>
        </p:nvSpPr>
        <p:spPr>
          <a:xfrm>
            <a:off x="5779963" y="258525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101" name="Text 97"/>
          <p:cNvSpPr/>
          <p:nvPr/>
        </p:nvSpPr>
        <p:spPr>
          <a:xfrm>
            <a:off x="4714763" y="2763850"/>
            <a:ext cx="545604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900" dirty="0"/>
          </a:p>
        </p:txBody>
      </p:sp>
      <p:sp>
        <p:nvSpPr>
          <p:cNvPr id="102" name="Text 98"/>
          <p:cNvSpPr/>
          <p:nvPr/>
        </p:nvSpPr>
        <p:spPr>
          <a:xfrm>
            <a:off x="5281799" y="275670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03" name="Text 99"/>
          <p:cNvSpPr/>
          <p:nvPr/>
        </p:nvSpPr>
        <p:spPr>
          <a:xfrm>
            <a:off x="5746680" y="2763850"/>
            <a:ext cx="12362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900" dirty="0"/>
          </a:p>
        </p:txBody>
      </p:sp>
      <p:sp>
        <p:nvSpPr>
          <p:cNvPr id="104" name="Text 100"/>
          <p:cNvSpPr/>
          <p:nvPr/>
        </p:nvSpPr>
        <p:spPr>
          <a:xfrm>
            <a:off x="4714763" y="29567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105" name="Text 101"/>
          <p:cNvSpPr/>
          <p:nvPr/>
        </p:nvSpPr>
        <p:spPr>
          <a:xfrm>
            <a:off x="4871926" y="2985306"/>
            <a:ext cx="959718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102"/>
          <p:cNvSpPr/>
          <p:nvPr/>
        </p:nvSpPr>
        <p:spPr>
          <a:xfrm>
            <a:off x="4871926" y="2985306"/>
            <a:ext cx="460660" cy="28575"/>
          </a:xfrm>
          <a:prstGeom prst="roundRect">
            <a:avLst>
              <a:gd name="adj" fmla="val 3333333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3"/>
          <p:cNvSpPr/>
          <p:nvPr/>
        </p:nvSpPr>
        <p:spPr>
          <a:xfrm>
            <a:off x="4714763" y="3063887"/>
            <a:ext cx="20574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108" name="Text 104"/>
          <p:cNvSpPr/>
          <p:nvPr/>
        </p:nvSpPr>
        <p:spPr>
          <a:xfrm>
            <a:off x="4871926" y="3092462"/>
            <a:ext cx="959718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5"/>
          <p:cNvSpPr/>
          <p:nvPr/>
        </p:nvSpPr>
        <p:spPr>
          <a:xfrm>
            <a:off x="4871926" y="3092462"/>
            <a:ext cx="191877" cy="28575"/>
          </a:xfrm>
          <a:prstGeom prst="roundRect">
            <a:avLst>
              <a:gd name="adj" fmla="val 3333333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6"/>
          <p:cNvSpPr/>
          <p:nvPr/>
        </p:nvSpPr>
        <p:spPr>
          <a:xfrm>
            <a:off x="6013810" y="2495959"/>
            <a:ext cx="1323938" cy="778669"/>
          </a:xfrm>
          <a:prstGeom prst="roundRect">
            <a:avLst>
              <a:gd name="adj" fmla="val 14679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7"/>
          <p:cNvSpPr/>
          <p:nvPr/>
        </p:nvSpPr>
        <p:spPr>
          <a:xfrm>
            <a:off x="6117394" y="2585256"/>
            <a:ext cx="104365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C/C-</a:t>
            </a:r>
            <a:endParaRPr lang="en-US" sz="1013" dirty="0"/>
          </a:p>
        </p:txBody>
      </p:sp>
      <p:sp>
        <p:nvSpPr>
          <p:cNvPr id="112" name="Text 108"/>
          <p:cNvSpPr/>
          <p:nvPr/>
        </p:nvSpPr>
        <p:spPr>
          <a:xfrm>
            <a:off x="7182483" y="258525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113" name="Text 109"/>
          <p:cNvSpPr/>
          <p:nvPr/>
        </p:nvSpPr>
        <p:spPr>
          <a:xfrm>
            <a:off x="6117394" y="2763850"/>
            <a:ext cx="511113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900" dirty="0"/>
          </a:p>
        </p:txBody>
      </p:sp>
      <p:sp>
        <p:nvSpPr>
          <p:cNvPr id="114" name="Text 110"/>
          <p:cNvSpPr/>
          <p:nvPr/>
        </p:nvSpPr>
        <p:spPr>
          <a:xfrm>
            <a:off x="6649938" y="275670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15" name="Text 111"/>
          <p:cNvSpPr/>
          <p:nvPr/>
        </p:nvSpPr>
        <p:spPr>
          <a:xfrm>
            <a:off x="7149199" y="2763850"/>
            <a:ext cx="12362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B92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116" name="Text 112"/>
          <p:cNvSpPr/>
          <p:nvPr/>
        </p:nvSpPr>
        <p:spPr>
          <a:xfrm>
            <a:off x="6117394" y="29567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117" name="Text 113"/>
          <p:cNvSpPr/>
          <p:nvPr/>
        </p:nvSpPr>
        <p:spPr>
          <a:xfrm>
            <a:off x="6274557" y="2985306"/>
            <a:ext cx="959607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14"/>
          <p:cNvSpPr/>
          <p:nvPr/>
        </p:nvSpPr>
        <p:spPr>
          <a:xfrm>
            <a:off x="6274557" y="2985306"/>
            <a:ext cx="307070" cy="28575"/>
          </a:xfrm>
          <a:prstGeom prst="roundRect">
            <a:avLst>
              <a:gd name="adj" fmla="val 3333333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5"/>
          <p:cNvSpPr/>
          <p:nvPr/>
        </p:nvSpPr>
        <p:spPr>
          <a:xfrm>
            <a:off x="6117394" y="3063887"/>
            <a:ext cx="20574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120" name="Text 116"/>
          <p:cNvSpPr/>
          <p:nvPr/>
        </p:nvSpPr>
        <p:spPr>
          <a:xfrm>
            <a:off x="6274557" y="3092462"/>
            <a:ext cx="959607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Text 117"/>
          <p:cNvSpPr/>
          <p:nvPr/>
        </p:nvSpPr>
        <p:spPr>
          <a:xfrm>
            <a:off x="6274557" y="3092462"/>
            <a:ext cx="76684" cy="28575"/>
          </a:xfrm>
          <a:prstGeom prst="roundRect">
            <a:avLst>
              <a:gd name="adj" fmla="val 3333333"/>
            </a:avLst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18"/>
          <p:cNvSpPr/>
          <p:nvPr/>
        </p:nvSpPr>
        <p:spPr>
          <a:xfrm>
            <a:off x="7416329" y="2495959"/>
            <a:ext cx="1323938" cy="778669"/>
          </a:xfrm>
          <a:prstGeom prst="roundRect">
            <a:avLst>
              <a:gd name="adj" fmla="val 14679"/>
            </a:avLst>
          </a:prstGeom>
          <a:solidFill>
            <a:srgbClr val="0F172A">
              <a:alpha val="7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Text 119"/>
          <p:cNvSpPr/>
          <p:nvPr/>
        </p:nvSpPr>
        <p:spPr>
          <a:xfrm>
            <a:off x="7519913" y="2585256"/>
            <a:ext cx="104365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D/D-</a:t>
            </a:r>
            <a:endParaRPr lang="en-US" sz="1013" dirty="0"/>
          </a:p>
        </p:txBody>
      </p:sp>
      <p:sp>
        <p:nvSpPr>
          <p:cNvPr id="124" name="Text 120"/>
          <p:cNvSpPr/>
          <p:nvPr/>
        </p:nvSpPr>
        <p:spPr>
          <a:xfrm>
            <a:off x="8585002" y="258525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125" name="Text 121"/>
          <p:cNvSpPr/>
          <p:nvPr/>
        </p:nvSpPr>
        <p:spPr>
          <a:xfrm>
            <a:off x="7519913" y="2763850"/>
            <a:ext cx="511113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8052457" y="275670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27" name="Text 123"/>
          <p:cNvSpPr/>
          <p:nvPr/>
        </p:nvSpPr>
        <p:spPr>
          <a:xfrm>
            <a:off x="8551718" y="2763850"/>
            <a:ext cx="12362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900" dirty="0"/>
          </a:p>
        </p:txBody>
      </p:sp>
      <p:sp>
        <p:nvSpPr>
          <p:cNvPr id="128" name="Text 124"/>
          <p:cNvSpPr/>
          <p:nvPr/>
        </p:nvSpPr>
        <p:spPr>
          <a:xfrm>
            <a:off x="7519913" y="29567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00" dirty="0"/>
          </a:p>
        </p:txBody>
      </p:sp>
      <p:sp>
        <p:nvSpPr>
          <p:cNvPr id="129" name="Text 125"/>
          <p:cNvSpPr/>
          <p:nvPr/>
        </p:nvSpPr>
        <p:spPr>
          <a:xfrm>
            <a:off x="7677076" y="2985306"/>
            <a:ext cx="959607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Text 126"/>
          <p:cNvSpPr/>
          <p:nvPr/>
        </p:nvSpPr>
        <p:spPr>
          <a:xfrm>
            <a:off x="7677076" y="2985306"/>
            <a:ext cx="115081" cy="28575"/>
          </a:xfrm>
          <a:prstGeom prst="roundRect">
            <a:avLst>
              <a:gd name="adj" fmla="val 3333333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Text 127"/>
          <p:cNvSpPr/>
          <p:nvPr/>
        </p:nvSpPr>
        <p:spPr>
          <a:xfrm>
            <a:off x="7519913" y="3063887"/>
            <a:ext cx="20574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132" name="Text 128"/>
          <p:cNvSpPr/>
          <p:nvPr/>
        </p:nvSpPr>
        <p:spPr>
          <a:xfrm>
            <a:off x="7677076" y="3092462"/>
            <a:ext cx="959607" cy="28575"/>
          </a:xfrm>
          <a:prstGeom prst="roundRect">
            <a:avLst>
              <a:gd name="adj" fmla="val 3333333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3278200"/>
            <a:ext cx="8343900" cy="337542"/>
          </a:xfrm>
          <a:prstGeom prst="rect">
            <a:avLst/>
          </a:prstGeom>
        </p:spPr>
      </p:pic>
      <p:sp>
        <p:nvSpPr>
          <p:cNvPr id="134" name="Text 129"/>
          <p:cNvSpPr/>
          <p:nvPr/>
        </p:nvSpPr>
        <p:spPr>
          <a:xfrm>
            <a:off x="403622" y="3281772"/>
            <a:ext cx="8336756" cy="330398"/>
          </a:xfrm>
          <a:prstGeom prst="roundRect">
            <a:avLst>
              <a:gd name="adj" fmla="val 34595"/>
            </a:avLst>
          </a:prstGeom>
          <a:noFill/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5" name="Text 130"/>
          <p:cNvSpPr/>
          <p:nvPr/>
        </p:nvSpPr>
        <p:spPr>
          <a:xfrm>
            <a:off x="550069" y="337553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36" name="Text 131"/>
          <p:cNvSpPr/>
          <p:nvPr/>
        </p:nvSpPr>
        <p:spPr>
          <a:xfrm>
            <a:off x="778669" y="3371069"/>
            <a:ext cx="781526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D-grade features (P0) eliminated.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D grades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after transformation.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29375" y="-1000125"/>
            <a:ext cx="3429000" cy="342900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2560253" y="3429000"/>
            <a:ext cx="2571750" cy="2571750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2"/>
          <p:cNvSpPr/>
          <p:nvPr/>
        </p:nvSpPr>
        <p:spPr>
          <a:xfrm>
            <a:off x="200025" y="203597"/>
            <a:ext cx="157163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203597" y="200025"/>
            <a:ext cx="0" cy="157163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786813" y="203597"/>
            <a:ext cx="157163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940403" y="200025"/>
            <a:ext cx="0" cy="157163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200025" y="4939903"/>
            <a:ext cx="157163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03597" y="4786313"/>
            <a:ext cx="0" cy="157163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940403" y="4786313"/>
            <a:ext cx="0" cy="157163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786813" y="4939903"/>
            <a:ext cx="157163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17922" y="289322"/>
            <a:ext cx="2425303" cy="210741"/>
          </a:xfrm>
          <a:prstGeom prst="roundRect">
            <a:avLst>
              <a:gd name="adj" fmla="val 45193140"/>
            </a:avLst>
          </a:prstGeom>
          <a:solidFill>
            <a:srgbClr val="0B1120">
              <a:alpha val="6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21506" y="373261"/>
            <a:ext cx="42863" cy="42863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95250" dist="50800" dir="16200000">
              <a:srgbClr val="38BDF8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750094" y="335756"/>
            <a:ext cx="21992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CALL TO ACTION · v1.0 · 2026-09-20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014604" y="335756"/>
            <a:ext cx="2051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DZPHARM / EXECUTIVE BRIEF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14350" y="634008"/>
            <a:ext cx="15128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TO ACTION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14350" y="866180"/>
            <a:ext cx="8629650" cy="40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3"/>
              </a:lnSpc>
              <a:buNone/>
            </a:pPr>
            <a:r>
              <a:rPr lang="en-US" sz="2813" b="1" spc="-70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Transformation </a:t>
            </a:r>
            <a:pPr algn="l" indent="0" marL="0">
              <a:lnSpc>
                <a:spcPts val="2953"/>
              </a:lnSpc>
              <a:buNone/>
            </a:pPr>
            <a:r>
              <a:rPr lang="en-US" sz="2813" b="1" spc="-70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Starts Today.</a:t>
            </a:r>
            <a:endParaRPr lang="en-US" sz="2813" dirty="0"/>
          </a:p>
        </p:txBody>
      </p:sp>
      <p:sp>
        <p:nvSpPr>
          <p:cNvPr id="21" name="Text 16"/>
          <p:cNvSpPr/>
          <p:nvPr/>
        </p:nvSpPr>
        <p:spPr>
          <a:xfrm>
            <a:off x="514350" y="1355527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DzPharm is an impressive platform with genuine innovation —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trilingual Darija Copilot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20-palette Nuancier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clinical tools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9,555 medication records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But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FDA4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foundational defects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prevent professional deployment.</a:t>
            </a:r>
            <a:endParaRPr lang="en-US" sz="844" dirty="0"/>
          </a:p>
        </p:txBody>
      </p:sp>
      <p:sp>
        <p:nvSpPr>
          <p:cNvPr id="22" name="Text 17"/>
          <p:cNvSpPr/>
          <p:nvPr/>
        </p:nvSpPr>
        <p:spPr>
          <a:xfrm>
            <a:off x="517922" y="1805583"/>
            <a:ext cx="2640732" cy="1193006"/>
          </a:xfrm>
          <a:prstGeom prst="roundRect">
            <a:avLst>
              <a:gd name="adj" fmla="val 11178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64369" y="1923455"/>
            <a:ext cx="162375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36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2302408" y="2044898"/>
            <a:ext cx="7240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spc="8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DAY 1 · 1 HOUR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664369" y="2209205"/>
            <a:ext cx="2362126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Ship Day 1 quick wins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46487" y="2389424"/>
            <a:ext cx="482806" cy="128016"/>
          </a:xfrm>
          <a:prstGeom prst="roundRect">
            <a:avLst>
              <a:gd name="adj" fmla="val 29762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637527" y="2396282"/>
            <a:ext cx="5007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 hour)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64369" y="2567982"/>
            <a:ext cx="710133" cy="162020"/>
          </a:xfrm>
          <a:prstGeom prst="roundRect">
            <a:avLst>
              <a:gd name="adj" fmla="val 2351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64369" y="2576661"/>
            <a:ext cx="71013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21" kern="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#54 Typography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417365" y="2567982"/>
            <a:ext cx="535781" cy="162020"/>
          </a:xfrm>
          <a:prstGeom prst="roundRect">
            <a:avLst>
              <a:gd name="adj" fmla="val 2351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1356366" y="2576661"/>
            <a:ext cx="65777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21" kern="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#67 Motion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1996008" y="2567982"/>
            <a:ext cx="492249" cy="162020"/>
          </a:xfrm>
          <a:prstGeom prst="roundRect">
            <a:avLst>
              <a:gd name="adj" fmla="val 2351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1944414" y="2576661"/>
            <a:ext cx="59543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21" kern="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#62 Icons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3251522" y="1805583"/>
            <a:ext cx="2640843" cy="1193006"/>
          </a:xfrm>
          <a:prstGeom prst="roundRect">
            <a:avLst>
              <a:gd name="adj" fmla="val 11178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3397969" y="1923455"/>
            <a:ext cx="152039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36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4932648" y="2044898"/>
            <a:ext cx="8275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spc="8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1 · KICKOFF</a:t>
            </a:r>
            <a:endParaRPr lang="en-US" sz="600" dirty="0"/>
          </a:p>
        </p:txBody>
      </p:sp>
      <p:sp>
        <p:nvSpPr>
          <p:cNvPr id="37" name="Text 32"/>
          <p:cNvSpPr/>
          <p:nvPr/>
        </p:nvSpPr>
        <p:spPr>
          <a:xfrm>
            <a:off x="3397969" y="2209205"/>
            <a:ext cx="2362237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Begin Week 1 in parallel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3401541" y="2580233"/>
            <a:ext cx="1550863" cy="137517"/>
          </a:xfrm>
          <a:prstGeom prst="roundRect">
            <a:avLst>
              <a:gd name="adj" fmla="val 27706"/>
            </a:avLst>
          </a:prstGeom>
          <a:solidFill>
            <a:srgbClr val="38BDF8">
              <a:alpha val="10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3555132" y="2605236"/>
            <a:ext cx="2205075" cy="127053"/>
          </a:xfrm>
          <a:prstGeom prst="rect">
            <a:avLst/>
          </a:prstGeom>
          <a:noFill/>
          <a:ln/>
        </p:spPr>
        <p:txBody>
          <a:bodyPr wrap="none" lIns="42863" tIns="14288" rIns="42863" bIns="14288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21" kern="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Engineer A · #1 Routing Phase 1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3447976" y="260970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3401541" y="2753469"/>
            <a:ext cx="1507220" cy="137517"/>
          </a:xfrm>
          <a:prstGeom prst="roundRect">
            <a:avLst>
              <a:gd name="adj" fmla="val 27706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3555132" y="2778472"/>
            <a:ext cx="2205075" cy="102245"/>
          </a:xfrm>
          <a:prstGeom prst="rect">
            <a:avLst/>
          </a:prstGeom>
          <a:noFill/>
          <a:ln/>
        </p:spPr>
        <p:txBody>
          <a:bodyPr wrap="none" lIns="42863" tIns="14288" rIns="42863" bIns="14288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21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Engineer B · #53 Color Phase 1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3447976" y="278293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5985235" y="1805583"/>
            <a:ext cx="2640732" cy="1193006"/>
          </a:xfrm>
          <a:prstGeom prst="roundRect">
            <a:avLst>
              <a:gd name="adj" fmla="val 11178"/>
            </a:avLst>
          </a:prstGeom>
          <a:solidFill>
            <a:srgbClr val="0F172A">
              <a:alpha val="7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6131682" y="1923455"/>
            <a:ext cx="167543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36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800" dirty="0"/>
          </a:p>
        </p:txBody>
      </p:sp>
      <p:sp>
        <p:nvSpPr>
          <p:cNvPr id="46" name="Text 41"/>
          <p:cNvSpPr/>
          <p:nvPr/>
        </p:nvSpPr>
        <p:spPr>
          <a:xfrm>
            <a:off x="7821402" y="2044898"/>
            <a:ext cx="6724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spc="8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WEEKS · A+</a:t>
            </a:r>
            <a:endParaRPr lang="en-US" sz="600" dirty="0"/>
          </a:p>
        </p:txBody>
      </p:sp>
      <p:sp>
        <p:nvSpPr>
          <p:cNvPr id="47" name="Text 42"/>
          <p:cNvSpPr/>
          <p:nvPr/>
        </p:nvSpPr>
        <p:spPr>
          <a:xfrm>
            <a:off x="6131682" y="2209205"/>
            <a:ext cx="2471854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Follow the 13-week sprint plan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7251267" y="2410569"/>
            <a:ext cx="468864" cy="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pillars</a:t>
            </a:r>
            <a:endParaRPr lang="en-US" sz="647" dirty="0"/>
          </a:p>
        </p:txBody>
      </p:sp>
      <p:sp>
        <p:nvSpPr>
          <p:cNvPr id="49" name="Text 44"/>
          <p:cNvSpPr/>
          <p:nvPr/>
        </p:nvSpPr>
        <p:spPr>
          <a:xfrm>
            <a:off x="7614018" y="2410569"/>
            <a:ext cx="623000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20+ features</a:t>
            </a:r>
            <a:endParaRPr lang="en-US" sz="647" dirty="0"/>
          </a:p>
        </p:txBody>
      </p:sp>
      <p:sp>
        <p:nvSpPr>
          <p:cNvPr id="50" name="Text 45"/>
          <p:cNvSpPr/>
          <p:nvPr/>
        </p:nvSpPr>
        <p:spPr>
          <a:xfrm>
            <a:off x="6131682" y="2403425"/>
            <a:ext cx="2362126" cy="269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 → A+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6106088" y="2718643"/>
            <a:ext cx="481543" cy="16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6499138" y="2699891"/>
            <a:ext cx="19946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 platform grade</a:t>
            </a:r>
            <a:endParaRPr lang="en-US" sz="800" dirty="0"/>
          </a:p>
        </p:txBody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3002161"/>
            <a:ext cx="8115300" cy="750094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517922" y="3005733"/>
            <a:ext cx="8108156" cy="742950"/>
          </a:xfrm>
          <a:prstGeom prst="roundRect">
            <a:avLst>
              <a:gd name="adj" fmla="val 15385"/>
            </a:avLst>
          </a:prstGeom>
          <a:noFill/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678656" y="317349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56" name="Text 50"/>
          <p:cNvSpPr/>
          <p:nvPr/>
        </p:nvSpPr>
        <p:spPr>
          <a:xfrm>
            <a:off x="892969" y="3150171"/>
            <a:ext cx="142482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spc="96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COMPLETE BLUEPRINT</a:t>
            </a:r>
            <a:endParaRPr lang="en-US" sz="600" dirty="0"/>
          </a:p>
        </p:txBody>
      </p:sp>
      <p:sp>
        <p:nvSpPr>
          <p:cNvPr id="57" name="Text 51"/>
          <p:cNvSpPr/>
          <p:nvPr/>
        </p:nvSpPr>
        <p:spPr>
          <a:xfrm>
            <a:off x="892969" y="3251969"/>
            <a:ext cx="1368507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Ship Day 1 today.</a:t>
            </a:r>
            <a:endParaRPr lang="en-US" sz="800" dirty="0"/>
          </a:p>
        </p:txBody>
      </p:sp>
      <p:sp>
        <p:nvSpPr>
          <p:cNvPr id="58" name="Text 52"/>
          <p:cNvSpPr/>
          <p:nvPr/>
        </p:nvSpPr>
        <p:spPr>
          <a:xfrm>
            <a:off x="2146362" y="3109317"/>
            <a:ext cx="7144" cy="28575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3"/>
          <p:cNvSpPr/>
          <p:nvPr/>
        </p:nvSpPr>
        <p:spPr>
          <a:xfrm>
            <a:off x="682228" y="3484364"/>
            <a:ext cx="1848222" cy="157163"/>
          </a:xfrm>
          <a:prstGeom prst="roundRect">
            <a:avLst>
              <a:gd name="adj" fmla="val 36364"/>
            </a:avLst>
          </a:prstGeom>
          <a:solidFill>
            <a:srgbClr val="0F172A">
              <a:alpha val="65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4"/>
          <p:cNvSpPr/>
          <p:nvPr/>
        </p:nvSpPr>
        <p:spPr>
          <a:xfrm>
            <a:off x="864394" y="3523655"/>
            <a:ext cx="1698203" cy="12070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23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technical design docs · 169 pages</a:t>
            </a:r>
            <a:endParaRPr lang="en-US" sz="600" dirty="0"/>
          </a:p>
        </p:txBody>
      </p:sp>
      <p:sp>
        <p:nvSpPr>
          <p:cNvPr id="61" name="Text 55"/>
          <p:cNvSpPr/>
          <p:nvPr/>
        </p:nvSpPr>
        <p:spPr>
          <a:xfrm>
            <a:off x="742950" y="352008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62" name="Text 56"/>
          <p:cNvSpPr/>
          <p:nvPr/>
        </p:nvSpPr>
        <p:spPr>
          <a:xfrm>
            <a:off x="2591172" y="3487936"/>
            <a:ext cx="935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800" dirty="0"/>
          </a:p>
        </p:txBody>
      </p:sp>
      <p:sp>
        <p:nvSpPr>
          <p:cNvPr id="63" name="Text 57"/>
          <p:cNvSpPr/>
          <p:nvPr/>
        </p:nvSpPr>
        <p:spPr>
          <a:xfrm>
            <a:off x="2706812" y="3470934"/>
            <a:ext cx="1029816" cy="184023"/>
          </a:xfrm>
          <a:prstGeom prst="roundRect">
            <a:avLst>
              <a:gd name="adj" fmla="val 31056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8"/>
          <p:cNvSpPr/>
          <p:nvPr/>
        </p:nvSpPr>
        <p:spPr>
          <a:xfrm>
            <a:off x="2892549" y="3523655"/>
            <a:ext cx="87265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23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presentation</a:t>
            </a:r>
            <a:endParaRPr lang="en-US" sz="600" dirty="0"/>
          </a:p>
        </p:txBody>
      </p:sp>
      <p:sp>
        <p:nvSpPr>
          <p:cNvPr id="65" name="Text 59"/>
          <p:cNvSpPr/>
          <p:nvPr/>
        </p:nvSpPr>
        <p:spPr>
          <a:xfrm>
            <a:off x="2771105" y="352008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66" name="Text 60"/>
          <p:cNvSpPr/>
          <p:nvPr/>
        </p:nvSpPr>
        <p:spPr>
          <a:xfrm>
            <a:off x="3793778" y="3487936"/>
            <a:ext cx="935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800" dirty="0"/>
          </a:p>
        </p:txBody>
      </p:sp>
      <p:sp>
        <p:nvSpPr>
          <p:cNvPr id="67" name="Text 61"/>
          <p:cNvSpPr/>
          <p:nvPr/>
        </p:nvSpPr>
        <p:spPr>
          <a:xfrm>
            <a:off x="3912989" y="3484364"/>
            <a:ext cx="1802457" cy="157163"/>
          </a:xfrm>
          <a:prstGeom prst="roundRect">
            <a:avLst>
              <a:gd name="adj" fmla="val 36364"/>
            </a:avLst>
          </a:prstGeom>
          <a:solidFill>
            <a:srgbClr val="A78BFA">
              <a:alpha val="10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4095155" y="3523655"/>
            <a:ext cx="1652439" cy="12070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23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 feature deep-dives · ~600 pages</a:t>
            </a:r>
            <a:endParaRPr lang="en-US" sz="600" dirty="0"/>
          </a:p>
        </p:txBody>
      </p:sp>
      <p:sp>
        <p:nvSpPr>
          <p:cNvPr id="69" name="Text 63"/>
          <p:cNvSpPr/>
          <p:nvPr/>
        </p:nvSpPr>
        <p:spPr>
          <a:xfrm>
            <a:off x="3973711" y="352008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70" name="Text 64"/>
          <p:cNvSpPr/>
          <p:nvPr/>
        </p:nvSpPr>
        <p:spPr>
          <a:xfrm>
            <a:off x="5776168" y="3487936"/>
            <a:ext cx="935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</a:t>
            </a:r>
            <a:endParaRPr lang="en-US" sz="800" dirty="0"/>
          </a:p>
        </p:txBody>
      </p:sp>
      <p:sp>
        <p:nvSpPr>
          <p:cNvPr id="71" name="Text 65"/>
          <p:cNvSpPr/>
          <p:nvPr/>
        </p:nvSpPr>
        <p:spPr>
          <a:xfrm>
            <a:off x="5891808" y="3493294"/>
            <a:ext cx="135307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complete blueprint</a:t>
            </a:r>
            <a:endParaRPr lang="en-US" sz="800" dirty="0"/>
          </a:p>
        </p:txBody>
      </p:sp>
      <p:sp>
        <p:nvSpPr>
          <p:cNvPr id="72" name="Text 66"/>
          <p:cNvSpPr/>
          <p:nvPr/>
        </p:nvSpPr>
        <p:spPr>
          <a:xfrm>
            <a:off x="514350" y="3987998"/>
            <a:ext cx="48233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107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END OF EXECUTIVE BRIEF —</a:t>
            </a:r>
            <a:endParaRPr lang="en-US" sz="800" dirty="0"/>
          </a:p>
        </p:txBody>
      </p:sp>
      <p:sp>
        <p:nvSpPr>
          <p:cNvPr id="73" name="Text 67"/>
          <p:cNvSpPr/>
          <p:nvPr/>
        </p:nvSpPr>
        <p:spPr>
          <a:xfrm>
            <a:off x="5352008" y="3837980"/>
            <a:ext cx="3277642" cy="12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886"/>
              </a:lnSpc>
              <a:buNone/>
            </a:pPr>
            <a:r>
              <a:rPr lang="en-US" sz="600" spc="3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DzPharm Platform Audit · v1.0 · 2026-09-20 · 719 total audit pages</a:t>
            </a:r>
            <a:endParaRPr lang="en-US" sz="600" dirty="0"/>
          </a:p>
        </p:txBody>
      </p:sp>
      <p:sp>
        <p:nvSpPr>
          <p:cNvPr id="74" name="Text 68"/>
          <p:cNvSpPr/>
          <p:nvPr/>
        </p:nvSpPr>
        <p:spPr>
          <a:xfrm>
            <a:off x="7540314" y="3993356"/>
            <a:ext cx="803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15 / 15</a:t>
            </a:r>
            <a:endParaRPr lang="en-US" sz="800" dirty="0"/>
          </a:p>
        </p:txBody>
      </p:sp>
      <p:sp>
        <p:nvSpPr>
          <p:cNvPr id="75" name="Text 69"/>
          <p:cNvSpPr/>
          <p:nvPr/>
        </p:nvSpPr>
        <p:spPr>
          <a:xfrm>
            <a:off x="8401050" y="4038005"/>
            <a:ext cx="228600" cy="7144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2026-09-22T10:39:29Z</dcterms:created>
  <dcterms:modified xsi:type="dcterms:W3CDTF">2026-09-22T10:39:29Z</dcterms:modified>
</cp:coreProperties>
</file>